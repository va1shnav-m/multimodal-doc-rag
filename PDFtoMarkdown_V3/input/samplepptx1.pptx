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30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30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30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30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30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778630" y="9277325"/>
            <a:ext cx="22923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30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6.xml"/><Relationship Id="rId11" Type="http://schemas.openxmlformats.org/officeDocument/2006/relationships/slide" Target="slide20.xml"/><Relationship Id="rId12" Type="http://schemas.openxmlformats.org/officeDocument/2006/relationships/slide" Target="slide23.xml"/><Relationship Id="rId13" Type="http://schemas.openxmlformats.org/officeDocument/2006/relationships/slide" Target="slide25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3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6124" y="2700149"/>
          <a:ext cx="6158230" cy="4210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1395"/>
              </a:tblGrid>
              <a:tr h="1195705">
                <a:tc>
                  <a:txBody>
                    <a:bodyPr/>
                    <a:lstStyle/>
                    <a:p>
                      <a:pPr marL="1649095" marR="476250" indent="-1170940">
                        <a:lnSpc>
                          <a:spcPts val="4690"/>
                        </a:lnSpc>
                      </a:pPr>
                      <a:r>
                        <a:rPr dirty="0" sz="4000">
                          <a:latin typeface="Cambria"/>
                          <a:cs typeface="Cambria"/>
                        </a:rPr>
                        <a:t>Software</a:t>
                      </a:r>
                      <a:r>
                        <a:rPr dirty="0" sz="4000" spc="-1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4000" spc="-10">
                          <a:latin typeface="Cambria"/>
                          <a:cs typeface="Cambria"/>
                        </a:rPr>
                        <a:t>Requirements Specification</a:t>
                      </a:r>
                      <a:endParaRPr sz="40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B w="6350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071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200">
                          <a:latin typeface="Cambria"/>
                          <a:cs typeface="Cambria"/>
                        </a:rPr>
                        <a:t>Amazing</a:t>
                      </a:r>
                      <a:r>
                        <a:rPr dirty="0" sz="2200" spc="-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200">
                          <a:latin typeface="Cambria"/>
                          <a:cs typeface="Cambria"/>
                        </a:rPr>
                        <a:t>Lunch</a:t>
                      </a:r>
                      <a:r>
                        <a:rPr dirty="0" sz="2200" spc="-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200" spc="-10">
                          <a:latin typeface="Cambria"/>
                          <a:cs typeface="Cambria"/>
                        </a:rPr>
                        <a:t>Indicator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T w="6350">
                      <a:solidFill>
                        <a:srgbClr val="4F81BC"/>
                      </a:solidFill>
                      <a:prstDash val="solid"/>
                    </a:lnT>
                  </a:tcPr>
                </a:tc>
              </a:tr>
              <a:tr h="1942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Sarah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Geagea</a:t>
                      </a:r>
                      <a:r>
                        <a:rPr dirty="0" sz="1100" spc="38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881024-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4940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Sheng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Zhang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850820-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4735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Niclas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Sahlin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880314-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5658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Faegheh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Hasibi</a:t>
                      </a:r>
                      <a:r>
                        <a:rPr dirty="0" sz="11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870625-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5166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Farhan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Hameed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851007-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9695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20066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Elmira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Rafiyan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840724-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5383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40"/>
                        </a:lnSpc>
                        <a:spcBef>
                          <a:spcPts val="14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Magnus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Ekberg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851022-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1933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54322" y="9262059"/>
            <a:ext cx="6476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61464"/>
            <a:ext cx="5963920" cy="790702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Table</a:t>
            </a:r>
            <a:r>
              <a:rPr dirty="0" sz="1400" spc="-3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of</a:t>
            </a:r>
            <a:r>
              <a:rPr dirty="0" sz="1400" spc="-1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Contents</a:t>
            </a:r>
            <a:endParaRPr sz="1400">
              <a:latin typeface="Cambria"/>
              <a:cs typeface="Cambria"/>
            </a:endParaRPr>
          </a:p>
          <a:p>
            <a:pPr algn="r" marL="139700" marR="5080" indent="-139700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139700" algn="l"/>
              </a:tabLst>
            </a:pPr>
            <a:r>
              <a:rPr dirty="0" sz="1100">
                <a:latin typeface="Times New Roman"/>
                <a:cs typeface="Times New Roman"/>
                <a:hlinkClick r:id="rId2" action="ppaction://hlinksldjump"/>
              </a:rPr>
              <a:t>Introduction...............................................................................................................................................</a:t>
            </a:r>
            <a:r>
              <a:rPr dirty="0" sz="1100" spc="-105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2" action="ppaction://hlinksldjump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2" action="ppaction://hlinksldjump"/>
              </a:rPr>
              <a:t>Purpose................................................................................................................................................</a:t>
            </a:r>
            <a:r>
              <a:rPr dirty="0" sz="1100" spc="-14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2" action="ppaction://hlinksldjump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2" action="ppaction://hlinksldjump"/>
              </a:rPr>
              <a:t>Scope...................................................................................................................................................</a:t>
            </a:r>
            <a:r>
              <a:rPr dirty="0" sz="1100" spc="-11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2" action="ppaction://hlinksldjump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2" action="ppaction://hlinksldjump"/>
              </a:rPr>
              <a:t>Definitions,</a:t>
            </a:r>
            <a:r>
              <a:rPr dirty="0" sz="1100" spc="-5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2" action="ppaction://hlinksldjump"/>
              </a:rPr>
              <a:t>acronyms, and</a:t>
            </a:r>
            <a:r>
              <a:rPr dirty="0" sz="1100" spc="-5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2" action="ppaction://hlinksldjump"/>
              </a:rPr>
              <a:t>abbreviations...........................................................................................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2" action="ppaction://hlinksldjump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3" action="ppaction://hlinksldjump"/>
              </a:rPr>
              <a:t>References...........................................................................................................................................</a:t>
            </a:r>
            <a:r>
              <a:rPr dirty="0" sz="1100" spc="-114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3" action="ppaction://hlinksldjump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 algn="r" marL="139700" marR="5080" indent="-13970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139700" algn="l"/>
              </a:tabLst>
            </a:pPr>
            <a:r>
              <a:rPr dirty="0" sz="1100">
                <a:latin typeface="Times New Roman"/>
                <a:cs typeface="Times New Roman"/>
                <a:hlinkClick r:id="rId4" action="ppaction://hlinksldjump"/>
              </a:rPr>
              <a:t>Overall</a:t>
            </a:r>
            <a:r>
              <a:rPr dirty="0" sz="1100" spc="1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4" action="ppaction://hlinksldjump"/>
              </a:rPr>
              <a:t>description....................................................................................................................................</a:t>
            </a:r>
            <a:r>
              <a:rPr dirty="0" sz="1100" spc="-13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4" action="ppaction://hlinksldjump"/>
              </a:rPr>
              <a:t>4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4" action="ppaction://hlinksldjump"/>
              </a:rPr>
              <a:t>Product</a:t>
            </a:r>
            <a:r>
              <a:rPr dirty="0" sz="1100" spc="2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4" action="ppaction://hlinksldjump"/>
              </a:rPr>
              <a:t>perspective</a:t>
            </a:r>
            <a:r>
              <a:rPr dirty="0" sz="1100" spc="-14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</a:t>
            </a:r>
            <a:r>
              <a:rPr dirty="0" sz="1100" spc="-12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4" action="ppaction://hlinksldjump"/>
              </a:rPr>
              <a:t>4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4" action="ppaction://hlinksldjump"/>
              </a:rPr>
              <a:t>Product</a:t>
            </a:r>
            <a:r>
              <a:rPr dirty="0" sz="1100" spc="2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4" action="ppaction://hlinksldjump"/>
              </a:rPr>
              <a:t>functions</a:t>
            </a:r>
            <a:r>
              <a:rPr dirty="0" sz="1100" spc="-6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................................................................................................................................</a:t>
            </a:r>
            <a:r>
              <a:rPr dirty="0" sz="1100" spc="-12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4" action="ppaction://hlinksldjump"/>
              </a:rPr>
              <a:t>4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User</a:t>
            </a:r>
            <a:r>
              <a:rPr dirty="0" sz="1100" spc="45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5" action="ppaction://hlinksldjump"/>
              </a:rPr>
              <a:t>characteristics</a:t>
            </a:r>
            <a:r>
              <a:rPr dirty="0" sz="1100" spc="-75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.............................................................................................................................</a:t>
            </a:r>
            <a:r>
              <a:rPr dirty="0" sz="1100" spc="-11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5" action="ppaction://hlinksldjump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 spc="-10">
                <a:latin typeface="Times New Roman"/>
                <a:cs typeface="Times New Roman"/>
                <a:hlinkClick r:id="rId5" action="ppaction://hlinksldjump"/>
              </a:rPr>
              <a:t>Constraints</a:t>
            </a:r>
            <a:r>
              <a:rPr dirty="0" sz="1100" spc="-15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..........................................................................................................................................</a:t>
            </a:r>
            <a:r>
              <a:rPr dirty="0" sz="1100" spc="-11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5" action="ppaction://hlinksldjump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Assumptions</a:t>
            </a:r>
            <a:r>
              <a:rPr dirty="0" sz="1100" spc="-25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and</a:t>
            </a:r>
            <a:r>
              <a:rPr dirty="0" sz="1100" spc="-3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dependencies</a:t>
            </a:r>
            <a:r>
              <a:rPr dirty="0" sz="1100" spc="-4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5" action="ppaction://hlinksldjump"/>
              </a:rPr>
              <a:t>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5" action="ppaction://hlinksldjump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6" action="ppaction://hlinksldjump"/>
              </a:rPr>
              <a:t>Apportioning</a:t>
            </a:r>
            <a:r>
              <a:rPr dirty="0" sz="1100" spc="1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6" action="ppaction://hlinksldjump"/>
              </a:rPr>
              <a:t>of</a:t>
            </a:r>
            <a:r>
              <a:rPr dirty="0" sz="1100" spc="15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6" action="ppaction://hlinksldjump"/>
              </a:rPr>
              <a:t>requirements</a:t>
            </a:r>
            <a:r>
              <a:rPr dirty="0" sz="1100" spc="-155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6" action="ppaction://hlinksldjump"/>
              </a:rPr>
              <a:t>.............................................................................................................</a:t>
            </a:r>
            <a:r>
              <a:rPr dirty="0" sz="1100" spc="-135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6" action="ppaction://hlinksldjump"/>
              </a:rPr>
              <a:t>6</a:t>
            </a:r>
            <a:endParaRPr sz="1100">
              <a:latin typeface="Times New Roman"/>
              <a:cs typeface="Times New Roman"/>
            </a:endParaRPr>
          </a:p>
          <a:p>
            <a:pPr algn="r" marL="139700" marR="5080" indent="-13970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139700" algn="l"/>
              </a:tabLst>
            </a:pPr>
            <a:r>
              <a:rPr dirty="0" sz="1100">
                <a:latin typeface="Times New Roman"/>
                <a:cs typeface="Times New Roman"/>
                <a:hlinkClick r:id="rId7" action="ppaction://hlinksldjump"/>
              </a:rPr>
              <a:t>Specific</a:t>
            </a:r>
            <a:r>
              <a:rPr dirty="0" sz="1100" spc="-15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7" action="ppaction://hlinksldjump"/>
              </a:rPr>
              <a:t>requirements................................................................................................................................</a:t>
            </a:r>
            <a:r>
              <a:rPr dirty="0" sz="1100" spc="-14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7" action="ppaction://hlinksldjump"/>
              </a:rPr>
              <a:t>7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7" action="ppaction://hlinksldjump"/>
              </a:rPr>
              <a:t>User</a:t>
            </a:r>
            <a:r>
              <a:rPr dirty="0" sz="1100" spc="-25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7" action="ppaction://hlinksldjump"/>
              </a:rPr>
              <a:t>interfaces</a:t>
            </a:r>
            <a:r>
              <a:rPr dirty="0" sz="1100" spc="-35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7" action="ppaction://hlinksldjump"/>
              </a:rPr>
              <a:t>.............................................................................................................................</a:t>
            </a:r>
            <a:r>
              <a:rPr dirty="0" sz="1100" spc="-14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7" action="ppaction://hlinksldjump"/>
              </a:rPr>
              <a:t>7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8" action="ppaction://hlinksldjump"/>
              </a:rPr>
              <a:t>Hardware</a:t>
            </a:r>
            <a:r>
              <a:rPr dirty="0" sz="1100" spc="5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8" action="ppaction://hlinksldjump"/>
              </a:rPr>
              <a:t>interfaces</a:t>
            </a:r>
            <a:r>
              <a:rPr dirty="0" sz="1100" spc="-5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8" action="ppaction://hlinksldjump"/>
              </a:rPr>
              <a:t>.....................................................................................................................</a:t>
            </a:r>
            <a:r>
              <a:rPr dirty="0" sz="1100" spc="-135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8" action="ppaction://hlinksldjump"/>
              </a:rPr>
              <a:t>8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8" action="ppaction://hlinksldjump"/>
              </a:rPr>
              <a:t>Software</a:t>
            </a:r>
            <a:r>
              <a:rPr dirty="0" sz="1100" spc="-2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8" action="ppaction://hlinksldjump"/>
              </a:rPr>
              <a:t>interfaces.......................................................................................................................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8" action="ppaction://hlinksldjump"/>
              </a:rPr>
              <a:t>8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Communications</a:t>
            </a:r>
            <a:r>
              <a:rPr dirty="0" sz="1100" spc="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interfaces..........................................................................................................</a:t>
            </a:r>
            <a:r>
              <a:rPr dirty="0" sz="1100" spc="-13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9" action="ppaction://hlinksldjump"/>
              </a:rPr>
              <a:t>9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40"/>
              </a:spcBef>
              <a:buAutoNum type="arabicPeriod" startAt="2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Functional</a:t>
            </a:r>
            <a:r>
              <a:rPr dirty="0" sz="1100" spc="-2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requirements......................................................................................................................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9" action="ppaction://hlinksldjump"/>
              </a:rPr>
              <a:t>9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User</a:t>
            </a:r>
            <a:r>
              <a:rPr dirty="0" sz="1100" spc="-1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Class</a:t>
            </a:r>
            <a:r>
              <a:rPr dirty="0" sz="1100" spc="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1</a:t>
            </a:r>
            <a:r>
              <a:rPr dirty="0" sz="1100" spc="-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-</a:t>
            </a:r>
            <a:r>
              <a:rPr dirty="0" sz="1100" spc="-2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The</a:t>
            </a:r>
            <a:r>
              <a:rPr dirty="0" sz="1100" spc="-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9" action="ppaction://hlinksldjump"/>
              </a:rPr>
              <a:t>User</a:t>
            </a:r>
            <a:r>
              <a:rPr dirty="0" sz="1100" spc="-5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9" action="ppaction://hlinksldjump"/>
              </a:rPr>
              <a:t>...............................................................................................................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100" spc="-50">
                <a:latin typeface="Times New Roman"/>
                <a:cs typeface="Times New Roman"/>
                <a:hlinkClick r:id="rId9" action="ppaction://hlinksldjump"/>
              </a:rPr>
              <a:t>9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10" action="ppaction://hlinksldjump"/>
              </a:rPr>
              <a:t>User</a:t>
            </a:r>
            <a:r>
              <a:rPr dirty="0" sz="1100" spc="-1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0" action="ppaction://hlinksldjump"/>
              </a:rPr>
              <a:t>Class 2</a:t>
            </a:r>
            <a:r>
              <a:rPr dirty="0" sz="1100" spc="-5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0" action="ppaction://hlinksldjump"/>
              </a:rPr>
              <a:t>-</a:t>
            </a:r>
            <a:r>
              <a:rPr dirty="0" sz="1100" spc="-25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0" action="ppaction://hlinksldjump"/>
              </a:rPr>
              <a:t>Restaurant</a:t>
            </a:r>
            <a:r>
              <a:rPr dirty="0" sz="1100" spc="-10">
                <a:latin typeface="Times New Roman"/>
                <a:cs typeface="Times New Roman"/>
                <a:hlinkClick r:id="rId10" action="ppaction://hlinksldjump"/>
              </a:rPr>
              <a:t> Owner</a:t>
            </a:r>
            <a:r>
              <a:rPr dirty="0" sz="1100" spc="-11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0" action="ppaction://hlinksldjump"/>
              </a:rPr>
              <a:t>...............................................................................................</a:t>
            </a:r>
            <a:r>
              <a:rPr dirty="0" sz="1100" spc="-14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0" action="ppaction://hlinksldjump"/>
              </a:rPr>
              <a:t>14</a:t>
            </a:r>
            <a:endParaRPr sz="1100">
              <a:latin typeface="Times New Roman"/>
              <a:cs typeface="Times New Roman"/>
            </a:endParaRPr>
          </a:p>
          <a:p>
            <a:pPr algn="r" lvl="2" marL="314960" marR="5080" indent="-3149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14960" algn="l"/>
              </a:tabLst>
            </a:pPr>
            <a:r>
              <a:rPr dirty="0" sz="1100">
                <a:latin typeface="Times New Roman"/>
                <a:cs typeface="Times New Roman"/>
                <a:hlinkClick r:id="rId11" action="ppaction://hlinksldjump"/>
              </a:rPr>
              <a:t>User</a:t>
            </a:r>
            <a:r>
              <a:rPr dirty="0" sz="1100" spc="-5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1" action="ppaction://hlinksldjump"/>
              </a:rPr>
              <a:t>Class</a:t>
            </a:r>
            <a:r>
              <a:rPr dirty="0" sz="1100" spc="5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1" action="ppaction://hlinksldjump"/>
              </a:rPr>
              <a:t>3</a:t>
            </a:r>
            <a:r>
              <a:rPr dirty="0" sz="1100" spc="-5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1" action="ppaction://hlinksldjump"/>
              </a:rPr>
              <a:t>-</a:t>
            </a:r>
            <a:r>
              <a:rPr dirty="0" sz="1100" spc="-2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1" action="ppaction://hlinksldjump"/>
              </a:rPr>
              <a:t>Administrator......................................................................................................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1" action="ppaction://hlinksldjump"/>
              </a:rPr>
              <a:t>18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 startAt="2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12" action="ppaction://hlinksldjump"/>
              </a:rPr>
              <a:t>Performance</a:t>
            </a:r>
            <a:r>
              <a:rPr dirty="0" sz="1100" spc="25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12" action="ppaction://hlinksldjump"/>
              </a:rPr>
              <a:t>requirements</a:t>
            </a:r>
            <a:r>
              <a:rPr dirty="0" sz="1100" spc="-35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................................................................................................................</a:t>
            </a:r>
            <a:r>
              <a:rPr dirty="0" sz="1100" spc="-13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2" action="ppaction://hlinksldjump"/>
              </a:rPr>
              <a:t>21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40"/>
              </a:spcBef>
              <a:buAutoNum type="arabicPeriod" startAt="2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13" action="ppaction://hlinksldjump"/>
              </a:rPr>
              <a:t>Design</a:t>
            </a:r>
            <a:r>
              <a:rPr dirty="0" sz="1100" spc="4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13" action="ppaction://hlinksldjump"/>
              </a:rPr>
              <a:t>constraints</a:t>
            </a:r>
            <a:r>
              <a:rPr dirty="0" sz="1100" spc="-16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3" action="ppaction://hlinksldjump"/>
              </a:rPr>
              <a:t>.............................................................................................................................</a:t>
            </a:r>
            <a:r>
              <a:rPr dirty="0" sz="1100" spc="-12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3" action="ppaction://hlinksldjump"/>
              </a:rPr>
              <a:t>23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35"/>
              </a:spcBef>
              <a:buAutoNum type="arabicPeriod" startAt="2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13" action="ppaction://hlinksldjump"/>
              </a:rPr>
              <a:t>Software</a:t>
            </a:r>
            <a:r>
              <a:rPr dirty="0" sz="1100" spc="2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3" action="ppaction://hlinksldjump"/>
              </a:rPr>
              <a:t>system </a:t>
            </a:r>
            <a:r>
              <a:rPr dirty="0" sz="1100" spc="-10">
                <a:latin typeface="Times New Roman"/>
                <a:cs typeface="Times New Roman"/>
                <a:hlinkClick r:id="rId13" action="ppaction://hlinksldjump"/>
              </a:rPr>
              <a:t>attributes</a:t>
            </a:r>
            <a:r>
              <a:rPr dirty="0" sz="1100" spc="-8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3" action="ppaction://hlinksldjump"/>
              </a:rPr>
              <a:t>................................................................................................................</a:t>
            </a:r>
            <a:r>
              <a:rPr dirty="0" sz="1100" spc="-135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3" action="ppaction://hlinksldjump"/>
              </a:rPr>
              <a:t>23</a:t>
            </a:r>
            <a:endParaRPr sz="1100">
              <a:latin typeface="Times New Roman"/>
              <a:cs typeface="Times New Roman"/>
            </a:endParaRPr>
          </a:p>
          <a:p>
            <a:pPr algn="r" marL="139700" marR="5080" indent="-139700">
              <a:lnSpc>
                <a:spcPct val="100000"/>
              </a:lnSpc>
              <a:spcBef>
                <a:spcPts val="635"/>
              </a:spcBef>
              <a:buAutoNum type="arabicPeriod" startAt="4"/>
              <a:tabLst>
                <a:tab pos="139700" algn="l"/>
              </a:tabLst>
            </a:pP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Prioritization</a:t>
            </a:r>
            <a:r>
              <a:rPr dirty="0" sz="1100" spc="-2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and</a:t>
            </a:r>
            <a:r>
              <a:rPr dirty="0" sz="1100" spc="-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Release</a:t>
            </a:r>
            <a:r>
              <a:rPr dirty="0" sz="1100" spc="-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Plan</a:t>
            </a:r>
            <a:r>
              <a:rPr dirty="0" sz="1100" spc="-10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...............................................................................................................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4" action="ppaction://hlinksldjump"/>
              </a:rPr>
              <a:t>27</a:t>
            </a:r>
            <a:endParaRPr sz="1100">
              <a:latin typeface="Times New Roman"/>
              <a:cs typeface="Times New Roman"/>
            </a:endParaRPr>
          </a:p>
          <a:p>
            <a:pPr algn="r" lvl="1" marL="210185" marR="5080" indent="-21018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10185" algn="l"/>
              </a:tabLst>
            </a:pP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Choice</a:t>
            </a:r>
            <a:r>
              <a:rPr dirty="0" sz="1100" spc="-2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of</a:t>
            </a:r>
            <a:r>
              <a:rPr dirty="0" sz="1100" spc="-1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prioritization</a:t>
            </a:r>
            <a:r>
              <a:rPr dirty="0" sz="1100" spc="-2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method</a:t>
            </a:r>
            <a:r>
              <a:rPr dirty="0" sz="1100" spc="-11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4" action="ppaction://hlinksldjump"/>
              </a:rPr>
              <a:t>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4" action="ppaction://hlinksldjump"/>
              </a:rPr>
              <a:t>27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100">
                <a:latin typeface="Times New Roman"/>
                <a:cs typeface="Times New Roman"/>
                <a:hlinkClick r:id="rId15" action="ppaction://hlinksldjump"/>
              </a:rPr>
              <a:t>Appendix</a:t>
            </a:r>
            <a:r>
              <a:rPr dirty="0" sz="1100" spc="-5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5" action="ppaction://hlinksldjump"/>
              </a:rPr>
              <a:t>I:</a:t>
            </a:r>
            <a:r>
              <a:rPr dirty="0" sz="1100" spc="15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5" action="ppaction://hlinksldjump"/>
              </a:rPr>
              <a:t>Selection</a:t>
            </a:r>
            <a:r>
              <a:rPr dirty="0" sz="1100" spc="-5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5" action="ppaction://hlinksldjump"/>
              </a:rPr>
              <a:t>for</a:t>
            </a:r>
            <a:r>
              <a:rPr dirty="0" sz="1100" spc="1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15" action="ppaction://hlinksldjump"/>
              </a:rPr>
              <a:t>Cost-</a:t>
            </a:r>
            <a:r>
              <a:rPr dirty="0" sz="1100">
                <a:latin typeface="Times New Roman"/>
                <a:cs typeface="Times New Roman"/>
                <a:hlinkClick r:id="rId15" action="ppaction://hlinksldjump"/>
              </a:rPr>
              <a:t>Value</a:t>
            </a:r>
            <a:r>
              <a:rPr dirty="0" sz="1100" spc="15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15" action="ppaction://hlinksldjump"/>
              </a:rPr>
              <a:t>Approach</a:t>
            </a:r>
            <a:r>
              <a:rPr dirty="0" sz="1100" spc="-165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5" action="ppaction://hlinksldjump"/>
              </a:rPr>
              <a:t>........................................................................................</a:t>
            </a:r>
            <a:r>
              <a:rPr dirty="0" sz="1100" spc="-140"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5" action="ppaction://hlinksldjump"/>
              </a:rPr>
              <a:t>29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Appendix</a:t>
            </a:r>
            <a:r>
              <a:rPr dirty="0" sz="1100" spc="-1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II:</a:t>
            </a:r>
            <a:r>
              <a:rPr dirty="0" sz="1100" spc="1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Prioritization</a:t>
            </a:r>
            <a:r>
              <a:rPr dirty="0" sz="1100" spc="-1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Result</a:t>
            </a:r>
            <a:r>
              <a:rPr dirty="0" sz="1100" spc="1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of</a:t>
            </a:r>
            <a:r>
              <a:rPr dirty="0" sz="1100" spc="-5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10</a:t>
            </a:r>
            <a:r>
              <a:rPr dirty="0" sz="1100" spc="5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selected</a:t>
            </a:r>
            <a:r>
              <a:rPr dirty="0" sz="1100" spc="1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Requirements</a:t>
            </a:r>
            <a:r>
              <a:rPr dirty="0" sz="1100" spc="5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Using</a:t>
            </a:r>
            <a:r>
              <a:rPr dirty="0" sz="1100" spc="-10">
                <a:latin typeface="Times New Roman"/>
                <a:cs typeface="Times New Roman"/>
                <a:hlinkClick r:id="rId16" action="ppaction://hlinksldjump"/>
              </a:rPr>
              <a:t> Cost-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Value</a:t>
            </a:r>
            <a:r>
              <a:rPr dirty="0" sz="1100" spc="-5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 spc="-10">
                <a:latin typeface="Times New Roman"/>
                <a:cs typeface="Times New Roman"/>
                <a:hlinkClick r:id="rId16" action="ppaction://hlinksldjump"/>
              </a:rPr>
              <a:t>Approach</a:t>
            </a:r>
            <a:r>
              <a:rPr dirty="0" sz="1100" spc="-120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>
                <a:latin typeface="Times New Roman"/>
                <a:cs typeface="Times New Roman"/>
                <a:hlinkClick r:id="rId16" action="ppaction://hlinksldjump"/>
              </a:rPr>
              <a:t>..................</a:t>
            </a:r>
            <a:r>
              <a:rPr dirty="0" sz="1100" spc="-145"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dirty="0" sz="1100" spc="-25">
                <a:latin typeface="Times New Roman"/>
                <a:cs typeface="Times New Roman"/>
                <a:hlinkClick r:id="rId16" action="ppaction://hlinksldjump"/>
              </a:rPr>
              <a:t>32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III: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Five-</a:t>
            </a:r>
            <a:r>
              <a:rPr dirty="0" sz="1100">
                <a:latin typeface="Times New Roman"/>
                <a:cs typeface="Times New Roman"/>
              </a:rPr>
              <a:t>Way Priority </a:t>
            </a:r>
            <a:r>
              <a:rPr dirty="0" sz="1100" spc="-10">
                <a:latin typeface="Times New Roman"/>
                <a:cs typeface="Times New Roman"/>
              </a:rPr>
              <a:t>Scheme</a:t>
            </a:r>
            <a:r>
              <a:rPr dirty="0" sz="1100" spc="-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...................................................................................................</a:t>
            </a:r>
            <a:r>
              <a:rPr dirty="0" sz="1100" spc="-14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36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 </a:t>
            </a:r>
            <a:r>
              <a:rPr dirty="0" sz="1100" spc="-10">
                <a:latin typeface="Times New Roman"/>
                <a:cs typeface="Times New Roman"/>
              </a:rPr>
              <a:t>Plan</a:t>
            </a:r>
            <a:r>
              <a:rPr dirty="0" sz="1100" spc="-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.........................................................................................................................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47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V: </a:t>
            </a:r>
            <a:r>
              <a:rPr dirty="0" sz="1100" spc="-10">
                <a:latin typeface="Times New Roman"/>
                <a:cs typeface="Times New Roman"/>
              </a:rPr>
              <a:t>I-</a:t>
            </a:r>
            <a:r>
              <a:rPr dirty="0" sz="1100">
                <a:latin typeface="Times New Roman"/>
                <a:cs typeface="Times New Roman"/>
              </a:rPr>
              <a:t>star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</a:t>
            </a:r>
            <a:r>
              <a:rPr dirty="0" sz="1100" spc="-14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55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1068070"/>
            <a:ext cx="5969000" cy="5997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lr>
                <a:srgbClr val="365F91"/>
              </a:buClr>
              <a:buFont typeface="Cambria"/>
              <a:buAutoNum type="arabicPeriod"/>
              <a:tabLst>
                <a:tab pos="198120" algn="l"/>
              </a:tabLst>
            </a:pP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Introduction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365F91"/>
              </a:buClr>
              <a:buFont typeface="Cambria"/>
              <a:buAutoNum type="arabicPeriod"/>
            </a:pPr>
            <a:endParaRPr sz="1400">
              <a:latin typeface="Cambria"/>
              <a:cs typeface="Cambria"/>
            </a:endParaRPr>
          </a:p>
          <a:p>
            <a:pPr marL="12700" marR="126364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scope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everything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document.</a:t>
            </a:r>
            <a:r>
              <a:rPr dirty="0" sz="1100" spc="-10">
                <a:latin typeface="Times New Roman"/>
                <a:cs typeface="Times New Roman"/>
              </a:rPr>
              <a:t> Also,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described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list 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abbreviations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definitions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provided.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70"/>
              </a:spcBef>
              <a:buClr>
                <a:srgbClr val="4F81BC"/>
              </a:buClr>
              <a:buFont typeface="Cambria"/>
              <a:buAutoNum type="arabicPeriod"/>
              <a:tabLst>
                <a:tab pos="280035" algn="l"/>
              </a:tabLst>
            </a:pP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Purpose</a:t>
            </a:r>
            <a:endParaRPr sz="1300">
              <a:latin typeface="Cambria"/>
              <a:cs typeface="Cambria"/>
            </a:endParaRPr>
          </a:p>
          <a:p>
            <a:pPr marL="12700" marR="154940">
              <a:lnSpc>
                <a:spcPct val="1102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“Amazing </a:t>
            </a:r>
            <a:r>
              <a:rPr dirty="0" sz="1100">
                <a:latin typeface="Times New Roman"/>
                <a:cs typeface="Times New Roman"/>
              </a:rPr>
              <a:t>Lunch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Indicator”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(ALI)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illustrate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complete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declaration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system. 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explain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constraints,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other </a:t>
            </a:r>
            <a:r>
              <a:rPr dirty="0" sz="1100">
                <a:latin typeface="Times New Roman"/>
                <a:cs typeface="Times New Roman"/>
              </a:rPr>
              <a:t>external applications.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primarily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intended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proposed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customer 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approval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first version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team.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5"/>
              </a:spcBef>
              <a:buClr>
                <a:srgbClr val="4F81BC"/>
              </a:buClr>
              <a:buFont typeface="Cambria"/>
              <a:buAutoNum type="arabicPeriod" startAt="2"/>
              <a:tabLst>
                <a:tab pos="280035" algn="l"/>
              </a:tabLst>
            </a:pP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Scope</a:t>
            </a:r>
            <a:endParaRPr sz="1300">
              <a:latin typeface="Cambria"/>
              <a:cs typeface="Cambria"/>
            </a:endParaRPr>
          </a:p>
          <a:p>
            <a:pPr marL="12700" marR="26034">
              <a:lnSpc>
                <a:spcPct val="1103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“Amazing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Lunch Indicator”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GPS-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closest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user’s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current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more.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download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 application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similar services.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300"/>
              </a:lnSpc>
              <a:spcBef>
                <a:spcPts val="990"/>
              </a:spcBef>
            </a:pP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web-portal.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</a:t>
            </a:r>
            <a:r>
              <a:rPr dirty="0" sz="1100" spc="-25">
                <a:latin typeface="Times New Roman"/>
                <a:cs typeface="Times New Roman"/>
              </a:rPr>
              <a:t>act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 uses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web-portal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keep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accurate.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instance,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verify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information.</a:t>
            </a:r>
            <a:endParaRPr sz="1100">
              <a:latin typeface="Times New Roman"/>
              <a:cs typeface="Times New Roman"/>
            </a:endParaRPr>
          </a:p>
          <a:p>
            <a:pPr marL="12700" marR="10160">
              <a:lnSpc>
                <a:spcPct val="110200"/>
              </a:lnSpc>
              <a:spcBef>
                <a:spcPts val="994"/>
              </a:spcBef>
            </a:pPr>
            <a:r>
              <a:rPr dirty="0" sz="1100">
                <a:latin typeface="Times New Roman"/>
                <a:cs typeface="Times New Roman"/>
              </a:rPr>
              <a:t>Furthermore,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10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maintained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server.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interacts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0">
                <a:latin typeface="Times New Roman"/>
                <a:cs typeface="Times New Roman"/>
              </a:rPr>
              <a:t>GPS-</a:t>
            </a:r>
            <a:r>
              <a:rPr dirty="0" sz="1100">
                <a:latin typeface="Times New Roman"/>
                <a:cs typeface="Times New Roman"/>
              </a:rPr>
              <a:t>Navigator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already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installed application 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user’s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GPS-</a:t>
            </a:r>
            <a:r>
              <a:rPr dirty="0" sz="1100">
                <a:latin typeface="Times New Roman"/>
                <a:cs typeface="Times New Roman"/>
              </a:rPr>
              <a:t>Navigator,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10">
                <a:latin typeface="Times New Roman"/>
                <a:cs typeface="Times New Roman"/>
              </a:rPr>
              <a:t>navigated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capability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summary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restaurants.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0"/>
              </a:spcBef>
              <a:buClr>
                <a:srgbClr val="4F81BC"/>
              </a:buClr>
              <a:buFont typeface="Cambria"/>
              <a:buAutoNum type="arabicPeriod" startAt="3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Definitions,</a:t>
            </a:r>
            <a:r>
              <a:rPr dirty="0" sz="1300" spc="-5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acronyms,</a:t>
            </a:r>
            <a:r>
              <a:rPr dirty="0" sz="1300" spc="-4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and</a:t>
            </a:r>
            <a:r>
              <a:rPr dirty="0" sz="1300" spc="-5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abbreviations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Cambria"/>
              <a:cs typeface="Cambria"/>
            </a:endParaRPr>
          </a:p>
          <a:p>
            <a:pPr algn="ctr" marR="5080">
              <a:lnSpc>
                <a:spcPct val="100000"/>
              </a:lnSpc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Table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1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-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Definitions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076" y="7113396"/>
          <a:ext cx="6164580" cy="1925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150"/>
                <a:gridCol w="4625340"/>
              </a:tblGrid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Term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Definition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User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Someone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interacts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application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Admin/Administrator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104775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administrator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permission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managing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controlling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system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dirty="0"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Owner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247015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Someone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wants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his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part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application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Web-Portal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special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facilities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owner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4400"/>
          <a:ext cx="6164580" cy="6736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150"/>
                <a:gridCol w="4625340"/>
              </a:tblGrid>
              <a:tr h="318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admin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GPS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Global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Positioning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System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GPS-Navigator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150495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installed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could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GPS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connection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locations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paths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current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defined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destination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116839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installed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helps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new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download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them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Internet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Stakeholder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interaction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system who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developer.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DESC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RAT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Rational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DEP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Dependency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TAG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unique,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persistent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identifier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PLanguage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GIST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384175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short,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concept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PLanguage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SCALE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138430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measure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PLanguage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METER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197485">
                        <a:lnSpc>
                          <a:spcPts val="138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establish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contained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PLanguage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MUST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579120">
                        <a:lnSpc>
                          <a:spcPts val="1260"/>
                        </a:lnSpc>
                        <a:spcBef>
                          <a:spcPts val="55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minimum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required to avoid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 a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PLanguage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PLAN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391160">
                        <a:lnSpc>
                          <a:spcPts val="1270"/>
                        </a:lnSpc>
                        <a:spcBef>
                          <a:spcPts val="54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 which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claimed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PLanguage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WISH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 marR="226695">
                        <a:lnSpc>
                          <a:spcPts val="1260"/>
                        </a:lnSpc>
                        <a:spcBef>
                          <a:spcPts val="55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desirable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achievement that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attainable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available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PLanguage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DEFINED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official definition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term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contained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PLanguage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statement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8039861"/>
            <a:ext cx="5531485" cy="876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20"/>
              </a:lnSpc>
              <a:spcBef>
                <a:spcPts val="95"/>
              </a:spcBef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1.4</a:t>
            </a:r>
            <a:r>
              <a:rPr dirty="0" sz="1300" spc="-3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References</a:t>
            </a:r>
            <a:endParaRPr sz="1300">
              <a:latin typeface="Cambria"/>
              <a:cs typeface="Cambria"/>
            </a:endParaRPr>
          </a:p>
          <a:p>
            <a:pPr marL="245745" indent="-198120">
              <a:lnSpc>
                <a:spcPts val="1280"/>
              </a:lnSpc>
              <a:buAutoNum type="arabicPlain"/>
              <a:tabLst>
                <a:tab pos="245745" algn="l"/>
              </a:tabLst>
            </a:pPr>
            <a:r>
              <a:rPr dirty="0" sz="1100">
                <a:latin typeface="Times New Roman"/>
                <a:cs typeface="Times New Roman"/>
              </a:rPr>
              <a:t>IEEE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Engineering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Standards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Committee,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“IEEE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830-</a:t>
            </a:r>
            <a:r>
              <a:rPr dirty="0" sz="1100">
                <a:latin typeface="Times New Roman"/>
                <a:cs typeface="Times New Roman"/>
              </a:rPr>
              <a:t>1998,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IEEE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Recommended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Practice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Specifications”,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October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1998.</a:t>
            </a:r>
            <a:endParaRPr sz="11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30"/>
              </a:spcBef>
              <a:buAutoNum type="arabicPlain" startAt="2"/>
              <a:tabLst>
                <a:tab pos="210820" algn="l"/>
              </a:tabLst>
            </a:pPr>
            <a:r>
              <a:rPr dirty="0" sz="1100">
                <a:latin typeface="Times New Roman"/>
                <a:cs typeface="Times New Roman"/>
              </a:rPr>
              <a:t>Feldt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R,”re_lecture5b_100914”,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unpublished.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87984"/>
            <a:ext cx="5862955" cy="364617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481330" indent="198120">
              <a:lnSpc>
                <a:spcPts val="1260"/>
              </a:lnSpc>
              <a:spcBef>
                <a:spcPts val="195"/>
              </a:spcBef>
              <a:buAutoNum type="arabicPlain" startAt="3"/>
              <a:tabLst>
                <a:tab pos="210820" algn="l"/>
              </a:tabLst>
            </a:pPr>
            <a:r>
              <a:rPr dirty="0" sz="1100">
                <a:latin typeface="Times New Roman"/>
                <a:cs typeface="Times New Roman"/>
              </a:rPr>
              <a:t>Davis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“Just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Enough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Management: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Meets </a:t>
            </a:r>
            <a:r>
              <a:rPr dirty="0" sz="1100">
                <a:latin typeface="Times New Roman"/>
                <a:cs typeface="Times New Roman"/>
              </a:rPr>
              <a:t>Marketing”,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York,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Dorset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Publishing,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2005.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AutoNum type="arabicPlain" startAt="3"/>
            </a:pPr>
            <a:endParaRPr sz="1100">
              <a:latin typeface="Times New Roman"/>
              <a:cs typeface="Times New Roman"/>
            </a:endParaRPr>
          </a:p>
          <a:p>
            <a:pPr marL="12700" marR="802005" indent="215265">
              <a:lnSpc>
                <a:spcPts val="1300"/>
              </a:lnSpc>
              <a:buSzPct val="109090"/>
              <a:buAutoNum type="arabicPlain" startAt="3"/>
              <a:tabLst>
                <a:tab pos="227965" algn="l"/>
              </a:tabLst>
            </a:pPr>
            <a:r>
              <a:rPr dirty="0" sz="1100">
                <a:latin typeface="Times New Roman"/>
                <a:cs typeface="Times New Roman"/>
              </a:rPr>
              <a:t>Karlsson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Cost-</a:t>
            </a:r>
            <a:r>
              <a:rPr dirty="0" sz="1100">
                <a:latin typeface="Times New Roman"/>
                <a:cs typeface="Times New Roman"/>
              </a:rPr>
              <a:t>Value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Approach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Requirements”,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Norges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Teknisk-</a:t>
            </a:r>
            <a:r>
              <a:rPr dirty="0" sz="1100">
                <a:latin typeface="Times New Roman"/>
                <a:cs typeface="Times New Roman"/>
              </a:rPr>
              <a:t>Naturvitenskapelige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1997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520"/>
              </a:lnSpc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1.5</a:t>
            </a:r>
            <a:r>
              <a:rPr dirty="0" sz="1300" spc="-3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Overview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28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chapters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appendixes.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</a:t>
            </a:r>
            <a:endParaRPr sz="1100">
              <a:latin typeface="Times New Roman"/>
              <a:cs typeface="Times New Roman"/>
            </a:endParaRPr>
          </a:p>
          <a:p>
            <a:pPr marL="12700" marR="317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overview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chapter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introduces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types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stakeholders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Further,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chapter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mentions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assumptions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product.</a:t>
            </a:r>
            <a:endParaRPr sz="1100">
              <a:latin typeface="Times New Roman"/>
              <a:cs typeface="Times New Roman"/>
            </a:endParaRPr>
          </a:p>
          <a:p>
            <a:pPr marL="12700" marR="330835">
              <a:lnSpc>
                <a:spcPct val="1101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chapter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techniques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specify</a:t>
            </a:r>
            <a:r>
              <a:rPr dirty="0" sz="1100" spc="-2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precisely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10">
                <a:latin typeface="Times New Roman"/>
                <a:cs typeface="Times New Roman"/>
              </a:rPr>
              <a:t>audiences.</a:t>
            </a:r>
            <a:endParaRPr sz="1100">
              <a:latin typeface="Times New Roman"/>
              <a:cs typeface="Times New Roman"/>
            </a:endParaRPr>
          </a:p>
          <a:p>
            <a:pPr marL="12700" marR="307340">
              <a:lnSpc>
                <a:spcPct val="110000"/>
              </a:lnSpc>
              <a:spcBef>
                <a:spcPts val="100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chapter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includes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motivation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chosen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discusses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alternatives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chosen.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Appendixes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 include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 prioritization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9526"/>
            <a:ext cx="5898515" cy="55010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340"/>
              </a:spcBef>
              <a:buClr>
                <a:srgbClr val="365F91"/>
              </a:buClr>
              <a:buFont typeface="Cambria"/>
              <a:buAutoNum type="arabicPeriod" startAt="2"/>
              <a:tabLst>
                <a:tab pos="198120" algn="l"/>
              </a:tabLst>
            </a:pP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Overall</a:t>
            </a:r>
            <a:r>
              <a:rPr dirty="0" sz="1400" spc="-4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description</a:t>
            </a:r>
            <a:endParaRPr sz="1400">
              <a:latin typeface="Cambria"/>
              <a:cs typeface="Cambria"/>
            </a:endParaRPr>
          </a:p>
          <a:p>
            <a:pPr marL="12700" marR="83820">
              <a:lnSpc>
                <a:spcPct val="110300"/>
              </a:lnSpc>
              <a:spcBef>
                <a:spcPts val="55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explained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context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systems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introduce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 It will </a:t>
            </a:r>
            <a:r>
              <a:rPr dirty="0" sz="1100" spc="-20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describe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stakeholders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available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type.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assumptions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presented.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0"/>
              </a:spcBef>
              <a:buClr>
                <a:srgbClr val="4F81BC"/>
              </a:buClr>
              <a:buFont typeface="Cambria"/>
              <a:buAutoNum type="arabicPeriod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Product</a:t>
            </a:r>
            <a:r>
              <a:rPr dirty="0" sz="1300" spc="-5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perspective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10000"/>
              </a:lnSpc>
              <a:spcBef>
                <a:spcPts val="20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consist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parts: 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managing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a </a:t>
            </a:r>
            <a:r>
              <a:rPr dirty="0" sz="1100" spc="-10">
                <a:latin typeface="Times New Roman"/>
                <a:cs typeface="Times New Roman"/>
              </a:rPr>
              <a:t>whole.</a:t>
            </a:r>
            <a:endParaRPr sz="1100">
              <a:latin typeface="Times New Roman"/>
              <a:cs typeface="Times New Roman"/>
            </a:endParaRPr>
          </a:p>
          <a:p>
            <a:pPr marL="12700" marR="2551430">
              <a:lnSpc>
                <a:spcPct val="110200"/>
              </a:lnSpc>
              <a:spcBef>
                <a:spcPts val="100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GPS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turn </a:t>
            </a:r>
            <a:r>
              <a:rPr dirty="0" sz="1100">
                <a:latin typeface="Times New Roman"/>
                <a:cs typeface="Times New Roman"/>
              </a:rPr>
              <a:t>communicates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physical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location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 1.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</a:t>
            </a:r>
            <a:r>
              <a:rPr dirty="0" sz="1100" spc="-20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application’s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provided</a:t>
            </a:r>
            <a:endParaRPr sz="1100">
              <a:latin typeface="Times New Roman"/>
              <a:cs typeface="Times New Roman"/>
            </a:endParaRPr>
          </a:p>
          <a:p>
            <a:pPr marL="12700" marR="253492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embedded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order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user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application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seamlessly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manner.</a:t>
            </a:r>
            <a:endParaRPr sz="1100">
              <a:latin typeface="Times New Roman"/>
              <a:cs typeface="Times New Roman"/>
            </a:endParaRPr>
          </a:p>
          <a:p>
            <a:pPr marL="12700" marR="2494280">
              <a:lnSpc>
                <a:spcPct val="1102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data-</a:t>
            </a:r>
            <a:r>
              <a:rPr dirty="0" sz="1100">
                <a:latin typeface="Times New Roman"/>
                <a:cs typeface="Times New Roman"/>
              </a:rPr>
              <a:t>centric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somewhere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with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however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slightly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ways.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mobile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modify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350888"/>
            <a:ext cx="28295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Internet.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644106"/>
            <a:ext cx="5923915" cy="23514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12700" marR="18605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resource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allocation.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avoid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problems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overloading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allowed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megabytes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memory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running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maximum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amount 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hard </a:t>
            </a:r>
            <a:r>
              <a:rPr dirty="0" sz="1100">
                <a:latin typeface="Times New Roman"/>
                <a:cs typeface="Times New Roman"/>
              </a:rPr>
              <a:t>drive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 </a:t>
            </a:r>
            <a:r>
              <a:rPr dirty="0" sz="1100" spc="-10">
                <a:latin typeface="Times New Roman"/>
                <a:cs typeface="Times New Roman"/>
              </a:rPr>
              <a:t>megabytes.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2.2</a:t>
            </a:r>
            <a:r>
              <a:rPr dirty="0" sz="1300" spc="-5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Product</a:t>
            </a:r>
            <a:r>
              <a:rPr dirty="0" sz="1300" spc="-5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functions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10000"/>
              </a:lnSpc>
              <a:spcBef>
                <a:spcPts val="20"/>
              </a:spcBef>
            </a:pP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on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criteria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several 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criteria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criteria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that.</a:t>
            </a:r>
            <a:endParaRPr sz="1100">
              <a:latin typeface="Times New Roman"/>
              <a:cs typeface="Times New Roman"/>
            </a:endParaRPr>
          </a:p>
          <a:p>
            <a:pPr marL="12700" marR="92710">
              <a:lnSpc>
                <a:spcPct val="1100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 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criteria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each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search </a:t>
            </a:r>
            <a:r>
              <a:rPr dirty="0" sz="1100">
                <a:latin typeface="Times New Roman"/>
                <a:cs typeface="Times New Roman"/>
              </a:rPr>
              <a:t>criteria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small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 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can identify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restaurant.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4520" y="2686050"/>
            <a:ext cx="2499995" cy="38284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35677" y="6466713"/>
            <a:ext cx="12509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1</a:t>
            </a:r>
            <a:r>
              <a:rPr dirty="0" sz="900" spc="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-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Block</a:t>
            </a:r>
            <a:r>
              <a:rPr dirty="0" sz="900" spc="-2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diagram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963285" cy="80619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4775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map 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user’s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location.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 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target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destination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 information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how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 there,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0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example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update.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0"/>
              </a:spcBef>
              <a:buClr>
                <a:srgbClr val="4F81BC"/>
              </a:buClr>
              <a:buFont typeface="Cambria"/>
              <a:buAutoNum type="arabicPeriod" startAt="3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User</a:t>
            </a:r>
            <a:r>
              <a:rPr dirty="0" sz="1300" spc="-2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characteristics</a:t>
            </a:r>
            <a:endParaRPr sz="1300">
              <a:latin typeface="Cambria"/>
              <a:cs typeface="Cambria"/>
            </a:endParaRPr>
          </a:p>
          <a:p>
            <a:pPr marL="12700" marR="187325">
              <a:lnSpc>
                <a:spcPct val="110000"/>
              </a:lnSpc>
              <a:spcBef>
                <a:spcPts val="20"/>
              </a:spcBef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interact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system: 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 </a:t>
            </a:r>
            <a:r>
              <a:rPr dirty="0" sz="1100">
                <a:latin typeface="Times New Roman"/>
                <a:cs typeface="Times New Roman"/>
              </a:rPr>
              <a:t>owners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their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requirements.</a:t>
            </a:r>
            <a:endParaRPr sz="1100">
              <a:latin typeface="Times New Roman"/>
              <a:cs typeface="Times New Roman"/>
            </a:endParaRPr>
          </a:p>
          <a:p>
            <a:pPr algn="just" marL="12700" marR="184150">
              <a:lnSpc>
                <a:spcPct val="1101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user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restaurants,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navigate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relevant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multiple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criteria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matches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 of </a:t>
            </a:r>
            <a:r>
              <a:rPr dirty="0" sz="1100" spc="-10">
                <a:latin typeface="Times New Roman"/>
                <a:cs typeface="Times New Roman"/>
              </a:rPr>
              <a:t>those.</a:t>
            </a:r>
            <a:endParaRPr sz="1100">
              <a:latin typeface="Times New Roman"/>
              <a:cs typeface="Times New Roman"/>
            </a:endParaRPr>
          </a:p>
          <a:p>
            <a:pPr marL="12700" marR="330200">
              <a:lnSpc>
                <a:spcPct val="110000"/>
              </a:lnSpc>
              <a:spcBef>
                <a:spcPts val="100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instead.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will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example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contact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10">
                <a:latin typeface="Times New Roman"/>
                <a:cs typeface="Times New Roman"/>
              </a:rPr>
              <a:t>menu.</a:t>
            </a:r>
            <a:endParaRPr sz="1100">
              <a:latin typeface="Times New Roman"/>
              <a:cs typeface="Times New Roman"/>
            </a:endParaRPr>
          </a:p>
          <a:p>
            <a:pPr marL="12700" marR="53975">
              <a:lnSpc>
                <a:spcPct val="1100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 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there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incorrect 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 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owners.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0"/>
              </a:spcBef>
              <a:buClr>
                <a:srgbClr val="4F81BC"/>
              </a:buClr>
              <a:buFont typeface="Cambria"/>
              <a:buAutoNum type="arabicPeriod" startAt="4"/>
              <a:tabLst>
                <a:tab pos="280035" algn="l"/>
              </a:tabLst>
            </a:pP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Constraints</a:t>
            </a:r>
            <a:endParaRPr sz="1300">
              <a:latin typeface="Cambria"/>
              <a:cs typeface="Cambria"/>
            </a:endParaRPr>
          </a:p>
          <a:p>
            <a:pPr marL="12700" marR="172085">
              <a:lnSpc>
                <a:spcPct val="1103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navigation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multiple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multiple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manufacturers,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likely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navigation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provide.</a:t>
            </a:r>
            <a:endParaRPr sz="1100">
              <a:latin typeface="Times New Roman"/>
              <a:cs typeface="Times New Roman"/>
            </a:endParaRPr>
          </a:p>
          <a:p>
            <a:pPr marL="12700" marR="29209">
              <a:lnSpc>
                <a:spcPct val="110900"/>
              </a:lnSpc>
              <a:spcBef>
                <a:spcPts val="98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Internet connection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application. Since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fetches data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Internet,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crucial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function.</a:t>
            </a:r>
            <a:endParaRPr sz="1100">
              <a:latin typeface="Times New Roman"/>
              <a:cs typeface="Times New Roman"/>
            </a:endParaRPr>
          </a:p>
          <a:p>
            <a:pPr algn="just" marL="12700" marR="64135">
              <a:lnSpc>
                <a:spcPct val="110000"/>
              </a:lnSpc>
              <a:spcBef>
                <a:spcPts val="994"/>
              </a:spcBef>
            </a:pP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capacity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database.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Since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shared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may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incoming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requests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therefor </a:t>
            </a: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time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takes 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fetch </a:t>
            </a:r>
            <a:r>
              <a:rPr dirty="0" sz="1100" spc="-20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5"/>
              </a:spcBef>
              <a:buClr>
                <a:srgbClr val="4F81BC"/>
              </a:buClr>
              <a:buFont typeface="Cambria"/>
              <a:buAutoNum type="arabicPeriod" startAt="5"/>
              <a:tabLst>
                <a:tab pos="280035" algn="l"/>
              </a:tabLst>
            </a:pP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Assumptions</a:t>
            </a:r>
            <a:r>
              <a:rPr dirty="0" sz="1300" spc="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and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dependencies</a:t>
            </a:r>
            <a:endParaRPr sz="1300">
              <a:latin typeface="Cambria"/>
              <a:cs typeface="Cambria"/>
            </a:endParaRPr>
          </a:p>
          <a:p>
            <a:pPr marL="12700" marR="182880">
              <a:lnSpc>
                <a:spcPct val="1103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assumption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always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enough </a:t>
            </a:r>
            <a:r>
              <a:rPr dirty="0" sz="1100">
                <a:latin typeface="Times New Roman"/>
                <a:cs typeface="Times New Roman"/>
              </a:rPr>
              <a:t>performance.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hardware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available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application,</a:t>
            </a:r>
            <a:r>
              <a:rPr dirty="0" sz="1100" spc="-25">
                <a:latin typeface="Times New Roman"/>
                <a:cs typeface="Times New Roman"/>
              </a:rPr>
              <a:t> for </a:t>
            </a:r>
            <a:r>
              <a:rPr dirty="0" sz="1100">
                <a:latin typeface="Times New Roman"/>
                <a:cs typeface="Times New Roman"/>
              </a:rPr>
              <a:t>example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might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allocated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scenarios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work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intended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all.</a:t>
            </a:r>
            <a:endParaRPr sz="1100">
              <a:latin typeface="Times New Roman"/>
              <a:cs typeface="Times New Roman"/>
            </a:endParaRPr>
          </a:p>
          <a:p>
            <a:pPr algn="just" marL="12700" marR="120014">
              <a:lnSpc>
                <a:spcPct val="110900"/>
              </a:lnSpc>
              <a:spcBef>
                <a:spcPts val="985"/>
              </a:spcBef>
            </a:pPr>
            <a:r>
              <a:rPr dirty="0" sz="1100">
                <a:latin typeface="Times New Roman"/>
                <a:cs typeface="Times New Roman"/>
              </a:rPr>
              <a:t>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assumption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components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way. 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GPS,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 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adjusted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872480" cy="1114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446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integration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this </a:t>
            </a:r>
            <a:r>
              <a:rPr dirty="0" sz="1100" spc="-10">
                <a:latin typeface="Times New Roman"/>
                <a:cs typeface="Times New Roman"/>
              </a:rPr>
              <a:t>specification.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2.6</a:t>
            </a:r>
            <a:r>
              <a:rPr dirty="0" sz="13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Apportioning</a:t>
            </a:r>
            <a:r>
              <a:rPr dirty="0" sz="13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dirty="0" sz="1300" spc="1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requirements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10000"/>
              </a:lnSpc>
              <a:spcBef>
                <a:spcPts val="2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delayed,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 requirements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could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transferred 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next </a:t>
            </a:r>
            <a:r>
              <a:rPr dirty="0" sz="1100">
                <a:latin typeface="Times New Roman"/>
                <a:cs typeface="Times New Roman"/>
              </a:rPr>
              <a:t>version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IV.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2988"/>
            <a:ext cx="5883910" cy="350964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325"/>
              </a:spcBef>
              <a:buClr>
                <a:srgbClr val="365F91"/>
              </a:buClr>
              <a:buFont typeface="Cambria"/>
              <a:buAutoNum type="arabicPeriod" startAt="3"/>
              <a:tabLst>
                <a:tab pos="198120" algn="l"/>
              </a:tabLst>
            </a:pP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Specific</a:t>
            </a:r>
            <a:r>
              <a:rPr dirty="0" sz="1400" spc="-5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requirements</a:t>
            </a:r>
            <a:endParaRPr sz="1400">
              <a:latin typeface="Cambria"/>
              <a:cs typeface="Cambria"/>
            </a:endParaRPr>
          </a:p>
          <a:p>
            <a:pPr marL="12700" marR="284480">
              <a:lnSpc>
                <a:spcPct val="110900"/>
              </a:lnSpc>
              <a:spcBef>
                <a:spcPts val="35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contains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detailed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features.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buAutoNum type="arabicPeriod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External</a:t>
            </a:r>
            <a:r>
              <a:rPr dirty="0" sz="1300" spc="-5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interface</a:t>
            </a:r>
            <a:r>
              <a:rPr dirty="0" sz="1300" spc="-5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Requirements</a:t>
            </a:r>
            <a:endParaRPr sz="1300">
              <a:latin typeface="Cambria"/>
              <a:cs typeface="Cambria"/>
            </a:endParaRPr>
          </a:p>
          <a:p>
            <a:pPr algn="just" marL="12700" marR="5080">
              <a:lnSpc>
                <a:spcPct val="110000"/>
              </a:lnSpc>
              <a:spcBef>
                <a:spcPts val="20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outputs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hardware,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prototypes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interface.</a:t>
            </a:r>
            <a:endParaRPr sz="1100">
              <a:latin typeface="Times New Roman"/>
              <a:cs typeface="Times New Roman"/>
            </a:endParaRPr>
          </a:p>
          <a:p>
            <a:pPr lvl="2" marL="353695" indent="-340995">
              <a:lnSpc>
                <a:spcPct val="100000"/>
              </a:lnSpc>
              <a:spcBef>
                <a:spcPts val="1190"/>
              </a:spcBef>
              <a:buClr>
                <a:srgbClr val="4F81BC"/>
              </a:buClr>
              <a:buFont typeface="Cambria"/>
              <a:buAutoNum type="arabicPeriod"/>
              <a:tabLst>
                <a:tab pos="353695" algn="l"/>
              </a:tabLst>
            </a:pP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User</a:t>
            </a:r>
            <a:r>
              <a:rPr dirty="0" sz="1100" spc="-4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interfaces</a:t>
            </a:r>
            <a:endParaRPr sz="1100">
              <a:latin typeface="Cambria"/>
              <a:cs typeface="Cambria"/>
            </a:endParaRPr>
          </a:p>
          <a:p>
            <a:pPr algn="just" marL="12700" marR="23495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first-</a:t>
            </a:r>
            <a:r>
              <a:rPr dirty="0" sz="1100">
                <a:latin typeface="Times New Roman"/>
                <a:cs typeface="Times New Roman"/>
              </a:rPr>
              <a:t>time user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the mobile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see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page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 he/she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application,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 the 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he/she should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 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log-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page.</a:t>
            </a:r>
            <a:endParaRPr sz="1100">
              <a:latin typeface="Times New Roman"/>
              <a:cs typeface="Times New Roman"/>
            </a:endParaRPr>
          </a:p>
          <a:p>
            <a:pPr marL="12700" marR="197485">
              <a:lnSpc>
                <a:spcPct val="110000"/>
              </a:lnSpc>
              <a:spcBef>
                <a:spcPts val="940"/>
              </a:spcBef>
            </a:pPr>
            <a:r>
              <a:rPr dirty="0" sz="1100">
                <a:latin typeface="Times New Roman"/>
                <a:cs typeface="Times New Roman"/>
              </a:rPr>
              <a:t>If the 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10">
                <a:latin typeface="Times New Roman"/>
                <a:cs typeface="Times New Roman"/>
              </a:rPr>
              <a:t>first-</a:t>
            </a:r>
            <a:r>
              <a:rPr dirty="0" sz="1100">
                <a:latin typeface="Times New Roman"/>
                <a:cs typeface="Times New Roman"/>
              </a:rPr>
              <a:t>time user,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he/she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see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 page directly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he/she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conduct.</a:t>
            </a:r>
            <a:endParaRPr sz="1100">
              <a:latin typeface="Times New Roman"/>
              <a:cs typeface="Times New Roman"/>
            </a:endParaRPr>
          </a:p>
          <a:p>
            <a:pPr marL="12700" marR="107950">
              <a:lnSpc>
                <a:spcPct val="1100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e-mail address,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 </a:t>
            </a:r>
            <a:r>
              <a:rPr dirty="0" sz="1100" spc="-2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password,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“P”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icon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click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navigate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page.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598386"/>
            <a:ext cx="5916930" cy="18154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 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shown.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default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sorting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allows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price, restaurant </a:t>
            </a:r>
            <a:r>
              <a:rPr dirty="0" sz="1100" spc="-10">
                <a:latin typeface="Times New Roman"/>
                <a:cs typeface="Times New Roman"/>
              </a:rPr>
              <a:t>name, </a:t>
            </a:r>
            <a:r>
              <a:rPr dirty="0" sz="1100">
                <a:latin typeface="Times New Roman"/>
                <a:cs typeface="Times New Roman"/>
              </a:rPr>
              <a:t>distance,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dish. 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restaurant’s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option, 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increasing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decreasing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7.</a:t>
            </a:r>
            <a:endParaRPr sz="1100">
              <a:latin typeface="Times New Roman"/>
              <a:cs typeface="Times New Roman"/>
            </a:endParaRPr>
          </a:p>
          <a:p>
            <a:pPr marL="12700" marR="179705">
              <a:lnSpc>
                <a:spcPct val="110000"/>
              </a:lnSpc>
              <a:spcBef>
                <a:spcPts val="101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pin,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6.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mentioned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list </a:t>
            </a:r>
            <a:r>
              <a:rPr dirty="0" sz="1100">
                <a:latin typeface="Times New Roman"/>
                <a:cs typeface="Times New Roman"/>
              </a:rPr>
              <a:t>view.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the 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view.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448" y="6305169"/>
            <a:ext cx="10731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2 -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Login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page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023" y="4553213"/>
            <a:ext cx="1278074" cy="17438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310" y="4538484"/>
            <a:ext cx="1241735" cy="16915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5024" y="4547627"/>
            <a:ext cx="1258051" cy="17480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00882" y="6335648"/>
            <a:ext cx="11410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3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Search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page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85028" y="6353936"/>
            <a:ext cx="1137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4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Profile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page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1576"/>
            <a:ext cx="5918835" cy="765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 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web-portal,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 8.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restaurant owner 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restaurant </a:t>
            </a:r>
            <a:r>
              <a:rPr dirty="0" sz="1100">
                <a:latin typeface="Times New Roman"/>
                <a:cs typeface="Times New Roman"/>
              </a:rPr>
              <a:t>information.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web-portal where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he/she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administer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instance editing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</a:t>
            </a:r>
            <a:r>
              <a:rPr dirty="0" sz="1100" spc="-10">
                <a:latin typeface="Times New Roman"/>
                <a:cs typeface="Times New Roman"/>
              </a:rPr>
              <a:t>information.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328154"/>
            <a:ext cx="5932805" cy="16979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60045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8 –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Web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Portal</a:t>
            </a:r>
            <a:endParaRPr sz="900">
              <a:latin typeface="Times New Roman"/>
              <a:cs typeface="Times New Roman"/>
            </a:endParaRPr>
          </a:p>
          <a:p>
            <a:pPr lvl="2" marL="353695" indent="-340995">
              <a:lnSpc>
                <a:spcPct val="100000"/>
              </a:lnSpc>
              <a:spcBef>
                <a:spcPts val="1019"/>
              </a:spcBef>
              <a:buClr>
                <a:srgbClr val="4F81BC"/>
              </a:buClr>
              <a:buFont typeface="Cambria"/>
              <a:buAutoNum type="arabicPeriod" startAt="2"/>
              <a:tabLst>
                <a:tab pos="353695" algn="l"/>
              </a:tabLst>
            </a:pP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Hardware</a:t>
            </a:r>
            <a:r>
              <a:rPr dirty="0" sz="1100" spc="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interfaces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ts val="145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neither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designated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hardware,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have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interfaces.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physical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phone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hardware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server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underlying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server.</a:t>
            </a:r>
            <a:endParaRPr sz="1100">
              <a:latin typeface="Times New Roman"/>
              <a:cs typeface="Times New Roman"/>
            </a:endParaRPr>
          </a:p>
          <a:p>
            <a:pPr lvl="2" marL="353695" indent="-340995">
              <a:lnSpc>
                <a:spcPct val="100000"/>
              </a:lnSpc>
              <a:spcBef>
                <a:spcPts val="1120"/>
              </a:spcBef>
              <a:buClr>
                <a:srgbClr val="4F81BC"/>
              </a:buClr>
              <a:buFont typeface="Cambria"/>
              <a:buAutoNum type="arabicPeriod" startAt="3"/>
              <a:tabLst>
                <a:tab pos="353695" algn="l"/>
              </a:tabLst>
            </a:pP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Software</a:t>
            </a:r>
            <a:r>
              <a:rPr dirty="0" sz="1100" spc="-5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interfaces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geographical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623" y="1845544"/>
            <a:ext cx="1607839" cy="22311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04289" y="4105783"/>
            <a:ext cx="990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5</a:t>
            </a:r>
            <a:r>
              <a:rPr dirty="0" sz="900" spc="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 List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view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3551" y="1849635"/>
            <a:ext cx="1612037" cy="22252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0839" y="4104259"/>
            <a:ext cx="102679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6 –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Map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view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9538" y="4505325"/>
            <a:ext cx="4505717" cy="27766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6387" y="1931990"/>
            <a:ext cx="1535906" cy="210025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82792" y="4104259"/>
            <a:ext cx="11239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7 –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Filter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menu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955030" cy="750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visual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 1.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web 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consists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concerning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modifying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consists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3.1.4</a:t>
            </a:r>
            <a:r>
              <a:rPr dirty="0" sz="1100" spc="2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Communications</a:t>
            </a:r>
            <a:r>
              <a:rPr dirty="0" sz="1100" spc="2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interfaces</a:t>
            </a:r>
            <a:endParaRPr sz="1100">
              <a:latin typeface="Cambria"/>
              <a:cs typeface="Cambria"/>
            </a:endParaRPr>
          </a:p>
          <a:p>
            <a:pPr marL="12700" marR="19685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 since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 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each </a:t>
            </a:r>
            <a:r>
              <a:rPr dirty="0" sz="1100">
                <a:latin typeface="Times New Roman"/>
                <a:cs typeface="Times New Roman"/>
              </a:rPr>
              <a:t>other.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However,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achieved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therefore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underlying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portal.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15"/>
              </a:spcBef>
              <a:buClr>
                <a:srgbClr val="4F81BC"/>
              </a:buClr>
              <a:buFont typeface="Cambria"/>
              <a:buAutoNum type="arabicPeriod" startAt="2"/>
              <a:tabLst>
                <a:tab pos="280035" algn="l"/>
              </a:tabLst>
            </a:pP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300" spc="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requirements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fundamental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system.</a:t>
            </a:r>
            <a:endParaRPr sz="1100">
              <a:latin typeface="Times New Roman"/>
              <a:cs typeface="Times New Roman"/>
            </a:endParaRPr>
          </a:p>
          <a:p>
            <a:pPr lvl="2" marL="353695" indent="-340995">
              <a:lnSpc>
                <a:spcPct val="100000"/>
              </a:lnSpc>
              <a:spcBef>
                <a:spcPts val="1180"/>
              </a:spcBef>
              <a:buClr>
                <a:srgbClr val="4F81BC"/>
              </a:buClr>
              <a:buFont typeface="Cambria"/>
              <a:buAutoNum type="arabicPeriod"/>
              <a:tabLst>
                <a:tab pos="353695" algn="l"/>
              </a:tabLst>
            </a:pP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User</a:t>
            </a:r>
            <a:r>
              <a:rPr dirty="0" sz="1100" spc="-2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Class</a:t>
            </a:r>
            <a:r>
              <a:rPr dirty="0" sz="1100" spc="-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1</a:t>
            </a:r>
            <a:r>
              <a:rPr dirty="0" sz="11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-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>
                <a:solidFill>
                  <a:srgbClr val="4F81BC"/>
                </a:solidFill>
                <a:latin typeface="Cambria"/>
                <a:cs typeface="Cambria"/>
              </a:rPr>
              <a:t>User</a:t>
            </a:r>
            <a:endParaRPr sz="1100">
              <a:latin typeface="Cambria"/>
              <a:cs typeface="Cambria"/>
            </a:endParaRPr>
          </a:p>
          <a:p>
            <a:pPr lvl="3" marL="455930" indent="-443230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1.1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</a:t>
            </a:r>
            <a:endParaRPr sz="1100">
              <a:latin typeface="Times New Roman"/>
              <a:cs typeface="Times New Roman"/>
            </a:endParaRPr>
          </a:p>
          <a:p>
            <a:pPr marL="12700" marR="17526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similar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service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download.</a:t>
            </a:r>
            <a:endParaRPr sz="1100">
              <a:latin typeface="Times New Roman"/>
              <a:cs typeface="Times New Roman"/>
            </a:endParaRPr>
          </a:p>
          <a:p>
            <a:pPr marL="12700" marR="252349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85"/>
              </a:spcBef>
              <a:buAutoNum type="arabicPeriod" startAt="2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1.2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notify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releases</a:t>
            </a:r>
            <a:endParaRPr sz="1100">
              <a:latin typeface="Times New Roman"/>
              <a:cs typeface="Times New Roman"/>
            </a:endParaRPr>
          </a:p>
          <a:p>
            <a:pPr marL="12700" marR="1587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new/updated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check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manually.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25">
                <a:latin typeface="Times New Roman"/>
                <a:cs typeface="Times New Roman"/>
              </a:rPr>
              <a:t> as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downloading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  <a:p>
            <a:pPr marL="12700" marR="25393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new/updated</a:t>
            </a:r>
            <a:r>
              <a:rPr dirty="0" sz="1100" spc="-10">
                <a:latin typeface="Times New Roman"/>
                <a:cs typeface="Times New Roman"/>
              </a:rPr>
              <a:t> release.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FR1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90"/>
              </a:spcBef>
              <a:buAutoNum type="arabicPeriod" startAt="3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1.3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registration 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</a:t>
            </a:r>
            <a:endParaRPr sz="1100">
              <a:latin typeface="Times New Roman"/>
              <a:cs typeface="Times New Roman"/>
            </a:endParaRPr>
          </a:p>
          <a:p>
            <a:pPr marL="12700" marR="4000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downloaded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register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must provide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user-name,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password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e-</a:t>
            </a:r>
            <a:r>
              <a:rPr dirty="0" sz="1100">
                <a:latin typeface="Times New Roman"/>
                <a:cs typeface="Times New Roman"/>
              </a:rPr>
              <a:t>mail address.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user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regularly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number.</a:t>
            </a:r>
            <a:endParaRPr sz="1100">
              <a:latin typeface="Times New Roman"/>
              <a:cs typeface="Times New Roman"/>
            </a:endParaRPr>
          </a:p>
          <a:p>
            <a:pPr marL="12700" marR="248094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FR1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5966460" cy="8037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455930" indent="-44323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1.4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FR4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 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DESC: 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registered,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  <a:p>
            <a:pPr marL="12700" marR="55118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 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stored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automatically.</a:t>
            </a:r>
            <a:endParaRPr sz="1100">
              <a:latin typeface="Times New Roman"/>
              <a:cs typeface="Times New Roman"/>
            </a:endParaRPr>
          </a:p>
          <a:p>
            <a:pPr marL="12700" marR="249301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FR1,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FR3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90"/>
              </a:spcBef>
              <a:buAutoNum type="arabicPeriod" startAt="5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1.5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Retrieve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  <a:p>
            <a:pPr marL="12700" marR="22860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registered,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retrieve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password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e-</a:t>
            </a:r>
            <a:r>
              <a:rPr dirty="0" sz="1100" spc="-10">
                <a:latin typeface="Times New Roman"/>
                <a:cs typeface="Times New Roman"/>
              </a:rPr>
              <a:t>mail.</a:t>
            </a:r>
            <a:endParaRPr sz="1100">
              <a:latin typeface="Times New Roman"/>
              <a:cs typeface="Times New Roman"/>
            </a:endParaRPr>
          </a:p>
          <a:p>
            <a:pPr marL="12700" marR="2966720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retrieve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password.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FR1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80"/>
              </a:spcBef>
              <a:buAutoNum type="arabicPeriod" startAt="6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1.6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FR6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 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 application,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 page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several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options.</a:t>
            </a:r>
            <a:endParaRPr sz="1100">
              <a:latin typeface="Times New Roman"/>
              <a:cs typeface="Times New Roman"/>
            </a:endParaRPr>
          </a:p>
          <a:p>
            <a:pPr marL="12700" marR="8064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Destination,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dish.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free-</a:t>
            </a:r>
            <a:r>
              <a:rPr dirty="0" sz="1100">
                <a:latin typeface="Times New Roman"/>
                <a:cs typeface="Times New Roman"/>
              </a:rPr>
              <a:t>text 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multiple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search.</a:t>
            </a:r>
            <a:endParaRPr sz="1100">
              <a:latin typeface="Times New Roman"/>
              <a:cs typeface="Times New Roman"/>
            </a:endParaRPr>
          </a:p>
          <a:p>
            <a:pPr marL="12700" marR="313245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FR4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75"/>
              </a:spcBef>
              <a:buAutoNum type="arabicPeriod" startAt="7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1.7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FR7</a:t>
            </a:r>
            <a:endParaRPr sz="1100">
              <a:latin typeface="Times New Roman"/>
              <a:cs typeface="Times New Roman"/>
            </a:endParaRPr>
          </a:p>
          <a:p>
            <a:pPr marL="12700" marR="2759710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 </a:t>
            </a:r>
            <a:r>
              <a:rPr dirty="0" sz="1100" spc="-20">
                <a:latin typeface="Times New Roman"/>
                <a:cs typeface="Times New Roman"/>
              </a:rPr>
              <a:t>view </a:t>
            </a:r>
            <a:r>
              <a:rPr dirty="0" sz="1100" spc="-10">
                <a:latin typeface="Times New Roman"/>
                <a:cs typeface="Times New Roman"/>
              </a:rPr>
              <a:t>DESC:</a:t>
            </a:r>
            <a:endParaRPr sz="1100">
              <a:latin typeface="Times New Roman"/>
              <a:cs typeface="Times New Roman"/>
            </a:endParaRPr>
          </a:p>
          <a:p>
            <a:pPr lvl="4" marL="469265" marR="5080" indent="-228600">
              <a:lnSpc>
                <a:spcPct val="110900"/>
              </a:lnSpc>
              <a:spcBef>
                <a:spcPts val="98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relevant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10">
                <a:latin typeface="Times New Roman"/>
                <a:cs typeface="Times New Roman"/>
              </a:rPr>
              <a:t> according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user’s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shown.</a:t>
            </a:r>
            <a:endParaRPr sz="1100">
              <a:latin typeface="Times New Roman"/>
              <a:cs typeface="Times New Roman"/>
            </a:endParaRPr>
          </a:p>
          <a:p>
            <a:pPr lvl="4" marL="469265" marR="469900" indent="-228600">
              <a:lnSpc>
                <a:spcPct val="1109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location.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link.</a:t>
            </a:r>
            <a:endParaRPr sz="1100">
              <a:latin typeface="Times New Roman"/>
              <a:cs typeface="Times New Roman"/>
            </a:endParaRPr>
          </a:p>
          <a:p>
            <a:pPr lvl="4" marL="469265" indent="-22796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default </a:t>
            </a:r>
            <a:r>
              <a:rPr dirty="0" sz="1100" spc="-10">
                <a:latin typeface="Times New Roman"/>
                <a:cs typeface="Times New Roman"/>
              </a:rPr>
              <a:t>zoom.</a:t>
            </a:r>
            <a:endParaRPr sz="1100">
              <a:latin typeface="Times New Roman"/>
              <a:cs typeface="Times New Roman"/>
            </a:endParaRPr>
          </a:p>
          <a:p>
            <a:pPr lvl="4" marL="469265" marR="364490" indent="-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button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selected,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filtering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menu.</a:t>
            </a:r>
            <a:endParaRPr sz="1100">
              <a:latin typeface="Times New Roman"/>
              <a:cs typeface="Times New Roman"/>
            </a:endParaRPr>
          </a:p>
          <a:p>
            <a:pPr marL="12700" marR="3380740">
              <a:lnSpc>
                <a:spcPct val="110900"/>
              </a:lnSpc>
              <a:spcBef>
                <a:spcPts val="98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map.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FR6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5944870" cy="8168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455930" indent="-443230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1.8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marL="12700" marR="2807970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list </a:t>
            </a:r>
            <a:r>
              <a:rPr dirty="0" sz="1100" spc="-20">
                <a:latin typeface="Times New Roman"/>
                <a:cs typeface="Times New Roman"/>
              </a:rPr>
              <a:t>view </a:t>
            </a:r>
            <a:r>
              <a:rPr dirty="0" sz="1100" spc="-10">
                <a:latin typeface="Times New Roman"/>
                <a:cs typeface="Times New Roman"/>
              </a:rPr>
              <a:t>DESC:</a:t>
            </a:r>
            <a:endParaRPr sz="1100">
              <a:latin typeface="Times New Roman"/>
              <a:cs typeface="Times New Roman"/>
            </a:endParaRPr>
          </a:p>
          <a:p>
            <a:pPr lvl="4" marL="469265" indent="-227965">
              <a:lnSpc>
                <a:spcPct val="100000"/>
              </a:lnSpc>
              <a:spcBef>
                <a:spcPts val="114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viewed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element 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10">
                <a:latin typeface="Times New Roman"/>
                <a:cs typeface="Times New Roman"/>
              </a:rPr>
              <a:t> restaurant.</a:t>
            </a:r>
            <a:endParaRPr sz="1100">
              <a:latin typeface="Times New Roman"/>
              <a:cs typeface="Times New Roman"/>
            </a:endParaRPr>
          </a:p>
          <a:p>
            <a:pPr marL="469265" marR="37338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name,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telephone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food,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distance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user’s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average price,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short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two-</a:t>
            </a:r>
            <a:r>
              <a:rPr dirty="0" sz="1100">
                <a:latin typeface="Times New Roman"/>
                <a:cs typeface="Times New Roman"/>
              </a:rPr>
              <a:t>line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description,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restaurant’s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link.</a:t>
            </a:r>
            <a:endParaRPr sz="1100">
              <a:latin typeface="Times New Roman"/>
              <a:cs typeface="Times New Roman"/>
            </a:endParaRPr>
          </a:p>
          <a:p>
            <a:pPr lvl="4" marL="469265" marR="146685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displayed. 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result contains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screen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 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should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scroll through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 lvl="4" marL="469265" indent="-22796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order: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925830" algn="l"/>
              </a:tabLst>
            </a:pPr>
            <a:r>
              <a:rPr dirty="0" sz="1100">
                <a:latin typeface="Times New Roman"/>
                <a:cs typeface="Times New Roman"/>
              </a:rPr>
              <a:t>average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925830" algn="l"/>
              </a:tabLst>
            </a:pPr>
            <a:r>
              <a:rPr dirty="0" sz="1100" spc="-10">
                <a:latin typeface="Times New Roman"/>
                <a:cs typeface="Times New Roman"/>
              </a:rPr>
              <a:t>distance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925830" algn="l"/>
              </a:tabLst>
            </a:pP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925830" algn="l"/>
              </a:tabLst>
            </a:pP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lvl="4" marL="469265" marR="5080" indent="-228600">
              <a:lnSpc>
                <a:spcPct val="110900"/>
              </a:lnSpc>
              <a:spcBef>
                <a:spcPts val="6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order: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925830" algn="l"/>
              </a:tabLst>
            </a:pPr>
            <a:r>
              <a:rPr dirty="0" sz="1100" spc="-10">
                <a:latin typeface="Times New Roman"/>
                <a:cs typeface="Times New Roman"/>
              </a:rPr>
              <a:t>distance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925830" algn="l"/>
              </a:tabLst>
            </a:pPr>
            <a:r>
              <a:rPr dirty="0" sz="1100">
                <a:latin typeface="Times New Roman"/>
                <a:cs typeface="Times New Roman"/>
              </a:rPr>
              <a:t>average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925830" algn="l"/>
              </a:tabLst>
            </a:pP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lvl="5" marL="925830" indent="-22796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925830" algn="l"/>
              </a:tabLst>
            </a:pP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lvl="4" marL="469265" indent="-22796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options.</a:t>
            </a:r>
            <a:endParaRPr sz="1100">
              <a:latin typeface="Times New Roman"/>
              <a:cs typeface="Times New Roman"/>
            </a:endParaRPr>
          </a:p>
          <a:p>
            <a:pPr lvl="4" marL="469265" marR="413384" indent="-228600">
              <a:lnSpc>
                <a:spcPct val="1109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button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filtering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menu.</a:t>
            </a:r>
            <a:endParaRPr sz="1100">
              <a:latin typeface="Times New Roman"/>
              <a:cs typeface="Times New Roman"/>
            </a:endParaRPr>
          </a:p>
          <a:p>
            <a:pPr marL="12700" marR="3060065">
              <a:lnSpc>
                <a:spcPct val="110000"/>
              </a:lnSpc>
              <a:spcBef>
                <a:spcPts val="994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list.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FR6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90"/>
              </a:spcBef>
              <a:buAutoNum type="arabicPeriod" startAt="9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1.9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FR9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Navigation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</a:t>
            </a:r>
            <a:endParaRPr sz="1100">
              <a:latin typeface="Times New Roman"/>
              <a:cs typeface="Times New Roman"/>
            </a:endParaRPr>
          </a:p>
          <a:p>
            <a:pPr marL="12700" marR="126364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element 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made,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phone’s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GPS-</a:t>
            </a:r>
            <a:r>
              <a:rPr dirty="0" sz="1100">
                <a:latin typeface="Times New Roman"/>
                <a:cs typeface="Times New Roman"/>
              </a:rPr>
              <a:t>navigation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user</a:t>
            </a:r>
            <a:endParaRPr sz="1100">
              <a:latin typeface="Times New Roman"/>
              <a:cs typeface="Times New Roman"/>
            </a:endParaRPr>
          </a:p>
          <a:p>
            <a:pPr marL="12700" marR="12192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navigated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destination.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destination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reached,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5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back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  <a:p>
            <a:pPr marL="12700" marR="326009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navigate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chosen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FR7,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85"/>
              </a:spcBef>
              <a:buAutoNum type="arabicPeriod" startAt="10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1.10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Switch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switch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options.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944870" cy="8150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77876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switch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views.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FR7,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90"/>
              </a:spcBef>
              <a:buAutoNum type="arabicPeriod" startAt="11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1.11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link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items.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link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picture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10">
                <a:latin typeface="Times New Roman"/>
                <a:cs typeface="Times New Roman"/>
              </a:rPr>
              <a:t>name,</a:t>
            </a:r>
            <a:endParaRPr sz="1100">
              <a:latin typeface="Times New Roman"/>
              <a:cs typeface="Times New Roman"/>
            </a:endParaRPr>
          </a:p>
          <a:p>
            <a:pPr marL="12700" marR="22542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address,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e-</a:t>
            </a:r>
            <a:r>
              <a:rPr dirty="0" sz="1100">
                <a:latin typeface="Times New Roman"/>
                <a:cs typeface="Times New Roman"/>
              </a:rPr>
              <a:t>mail address,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food,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average price,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description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menu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10">
                <a:latin typeface="Times New Roman"/>
                <a:cs typeface="Times New Roman"/>
              </a:rPr>
              <a:t>dishes.</a:t>
            </a:r>
            <a:endParaRPr sz="1100">
              <a:latin typeface="Times New Roman"/>
              <a:cs typeface="Times New Roman"/>
            </a:endParaRPr>
          </a:p>
          <a:p>
            <a:pPr marL="12700" marR="273050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restaurants.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FR7,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90"/>
              </a:spcBef>
              <a:buAutoNum type="arabicPeriod" startAt="12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1.12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marL="12700" marR="7493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minimum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default.</a:t>
            </a:r>
            <a:endParaRPr sz="1100">
              <a:latin typeface="Times New Roman"/>
              <a:cs typeface="Times New Roman"/>
            </a:endParaRPr>
          </a:p>
          <a:p>
            <a:pPr marL="12700" marR="3500754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price.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75"/>
              </a:spcBef>
              <a:buAutoNum type="arabicPeriod" startAt="13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1.13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destination</a:t>
            </a:r>
            <a:endParaRPr sz="1100">
              <a:latin typeface="Times New Roman"/>
              <a:cs typeface="Times New Roman"/>
            </a:endParaRPr>
          </a:p>
          <a:p>
            <a:pPr marL="12700" marR="1587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DESC: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minimum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distance, 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position.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default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minimum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0 km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maximum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10 km.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input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 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lower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minimum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default.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result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default.</a:t>
            </a:r>
            <a:endParaRPr sz="1100">
              <a:latin typeface="Times New Roman"/>
              <a:cs typeface="Times New Roman"/>
            </a:endParaRPr>
          </a:p>
          <a:p>
            <a:pPr marL="12700" marR="316674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destination.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FR7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75"/>
              </a:spcBef>
              <a:buAutoNum type="arabicPeriod" startAt="14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1.14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FR14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Accepted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destination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</a:t>
            </a:r>
            <a:endParaRPr sz="1100">
              <a:latin typeface="Times New Roman"/>
              <a:cs typeface="Times New Roman"/>
            </a:endParaRPr>
          </a:p>
          <a:p>
            <a:pPr marL="12700" marR="147320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Integers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accepted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 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searches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destination.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system </a:t>
            </a:r>
            <a:r>
              <a:rPr dirty="0" sz="1100">
                <a:latin typeface="Times New Roman"/>
                <a:cs typeface="Times New Roman"/>
              </a:rPr>
              <a:t>receives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invalid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prompted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insert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accepted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input.</a:t>
            </a:r>
            <a:endParaRPr sz="1100">
              <a:latin typeface="Times New Roman"/>
              <a:cs typeface="Times New Roman"/>
            </a:endParaRPr>
          </a:p>
          <a:p>
            <a:pPr marL="12700" marR="307086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valid</a:t>
            </a:r>
            <a:r>
              <a:rPr dirty="0" sz="1100" spc="-10">
                <a:latin typeface="Times New Roman"/>
                <a:cs typeface="Times New Roman"/>
              </a:rPr>
              <a:t> input.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FR12,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FR13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90"/>
              </a:spcBef>
              <a:buAutoNum type="arabicPeriod" startAt="15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1.15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956935" cy="78651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DESC: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 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default.</a:t>
            </a:r>
            <a:endParaRPr sz="1100">
              <a:latin typeface="Times New Roman"/>
              <a:cs typeface="Times New Roman"/>
            </a:endParaRPr>
          </a:p>
          <a:p>
            <a:pPr marL="12700" marR="296926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type.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FR7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10"/>
              </a:spcBef>
              <a:buAutoNum type="arabicPeriod" startAt="16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1.16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FR16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 </a:t>
            </a:r>
            <a:r>
              <a:rPr dirty="0" sz="1100" spc="-20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12700" marR="13017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DESC: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default.</a:t>
            </a:r>
            <a:endParaRPr sz="1100">
              <a:latin typeface="Times New Roman"/>
              <a:cs typeface="Times New Roman"/>
            </a:endParaRPr>
          </a:p>
          <a:p>
            <a:pPr marL="12700" marR="30924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20">
                <a:latin typeface="Times New Roman"/>
                <a:cs typeface="Times New Roman"/>
              </a:rPr>
              <a:t> dish.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FR7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90"/>
              </a:spcBef>
              <a:buAutoNum type="arabicPeriod" startAt="17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1.17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 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Free-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</a:t>
            </a:r>
            <a:endParaRPr sz="1100">
              <a:latin typeface="Times New Roman"/>
              <a:cs typeface="Times New Roman"/>
            </a:endParaRPr>
          </a:p>
          <a:p>
            <a:pPr marL="12700" marR="9080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conduct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either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name,</a:t>
            </a:r>
            <a:r>
              <a:rPr dirty="0" sz="1100" spc="-10">
                <a:latin typeface="Times New Roman"/>
                <a:cs typeface="Times New Roman"/>
              </a:rPr>
              <a:t> restaurant </a:t>
            </a:r>
            <a:r>
              <a:rPr dirty="0" sz="1100">
                <a:latin typeface="Times New Roman"/>
                <a:cs typeface="Times New Roman"/>
              </a:rPr>
              <a:t>description,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address,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menu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free-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result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default.</a:t>
            </a:r>
            <a:endParaRPr sz="1100">
              <a:latin typeface="Times New Roman"/>
              <a:cs typeface="Times New Roman"/>
            </a:endParaRPr>
          </a:p>
          <a:p>
            <a:pPr marL="12700" marR="242824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free-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search.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FR7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90"/>
              </a:spcBef>
              <a:buAutoNum type="arabicPeriod" startAt="18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1.18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found</a:t>
            </a:r>
            <a:endParaRPr sz="1100">
              <a:latin typeface="Times New Roman"/>
              <a:cs typeface="Times New Roman"/>
            </a:endParaRPr>
          </a:p>
          <a:p>
            <a:pPr marL="12700" marR="18986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kept 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possibility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conduct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away.</a:t>
            </a:r>
            <a:endParaRPr sz="1100">
              <a:latin typeface="Times New Roman"/>
              <a:cs typeface="Times New Roman"/>
            </a:endParaRPr>
          </a:p>
          <a:p>
            <a:pPr marL="12700" marR="209994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RAT: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conduct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match 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found.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FR5</a:t>
            </a:r>
            <a:endParaRPr sz="1100">
              <a:latin typeface="Times New Roman"/>
              <a:cs typeface="Times New Roman"/>
            </a:endParaRPr>
          </a:p>
          <a:p>
            <a:pPr lvl="3" marL="534670" indent="-521970">
              <a:lnSpc>
                <a:spcPct val="100000"/>
              </a:lnSpc>
              <a:spcBef>
                <a:spcPts val="1105"/>
              </a:spcBef>
              <a:buAutoNum type="arabicPeriod" startAt="19"/>
              <a:tabLst>
                <a:tab pos="53467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1.19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FR19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results</a:t>
            </a:r>
            <a:endParaRPr sz="1100">
              <a:latin typeface="Times New Roman"/>
              <a:cs typeface="Times New Roman"/>
            </a:endParaRPr>
          </a:p>
          <a:p>
            <a:pPr marL="12700" marR="323850">
              <a:lnSpc>
                <a:spcPct val="1102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DESC: When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price, </a:t>
            </a:r>
            <a:r>
              <a:rPr dirty="0" sz="1100">
                <a:latin typeface="Times New Roman"/>
                <a:cs typeface="Times New Roman"/>
              </a:rPr>
              <a:t>distance,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20">
                <a:latin typeface="Times New Roman"/>
                <a:cs typeface="Times New Roman"/>
              </a:rPr>
              <a:t>name.</a:t>
            </a:r>
            <a:endParaRPr sz="1100">
              <a:latin typeface="Times New Roman"/>
              <a:cs typeface="Times New Roman"/>
            </a:endParaRPr>
          </a:p>
          <a:p>
            <a:pPr lvl="4" marL="469265" marR="201295" indent="-228600">
              <a:lnSpc>
                <a:spcPct val="110900"/>
              </a:lnSpc>
              <a:spcBef>
                <a:spcPts val="105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type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ordered alphabetically.</a:t>
            </a:r>
            <a:endParaRPr sz="1100">
              <a:latin typeface="Times New Roman"/>
              <a:cs typeface="Times New Roman"/>
            </a:endParaRPr>
          </a:p>
          <a:p>
            <a:pPr lvl="4" marL="469265" indent="-22796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 the 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cheapest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expensive.</a:t>
            </a:r>
            <a:endParaRPr sz="1100">
              <a:latin typeface="Times New Roman"/>
              <a:cs typeface="Times New Roman"/>
            </a:endParaRPr>
          </a:p>
          <a:p>
            <a:pPr lvl="4" marL="469265" marR="8255" indent="-228600">
              <a:lnSpc>
                <a:spcPct val="1109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 the 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ordered 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closets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furthest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 </a:t>
            </a:r>
            <a:r>
              <a:rPr dirty="0" sz="1100" spc="-10">
                <a:latin typeface="Times New Roman"/>
                <a:cs typeface="Times New Roman"/>
              </a:rPr>
              <a:t>according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user’s</a:t>
            </a:r>
            <a:r>
              <a:rPr dirty="0" sz="1100" spc="-10">
                <a:latin typeface="Times New Roman"/>
                <a:cs typeface="Times New Roman"/>
              </a:rPr>
              <a:t> position.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1099159"/>
            <a:ext cx="5939790" cy="80016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 button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 option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clicked,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reversed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ordered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descending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matter.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 button 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clicked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reversed.</a:t>
            </a:r>
            <a:endParaRPr sz="1100">
              <a:latin typeface="Times New Roman"/>
              <a:cs typeface="Times New Roman"/>
            </a:endParaRPr>
          </a:p>
          <a:p>
            <a:pPr marL="12700" marR="328676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list.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3.2.1.20</a:t>
            </a:r>
            <a:r>
              <a:rPr dirty="0" sz="1100" spc="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 requirement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1.20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results</a:t>
            </a:r>
            <a:endParaRPr sz="1100">
              <a:latin typeface="Times New Roman"/>
              <a:cs typeface="Times New Roman"/>
            </a:endParaRPr>
          </a:p>
          <a:p>
            <a:pPr marL="12700" marR="7302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DESC: When viewing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filtering </a:t>
            </a:r>
            <a:r>
              <a:rPr dirty="0" sz="1100">
                <a:latin typeface="Times New Roman"/>
                <a:cs typeface="Times New Roman"/>
              </a:rPr>
              <a:t>menu.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13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decreasing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distance</a:t>
            </a: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decreasing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maximum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choosing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choosing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specific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12700" marR="12700">
              <a:lnSpc>
                <a:spcPct val="110000"/>
              </a:lnSpc>
              <a:spcBef>
                <a:spcPts val="994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 shall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affected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be </a:t>
            </a:r>
            <a:r>
              <a:rPr dirty="0" sz="1100" spc="-10">
                <a:latin typeface="Times New Roman"/>
                <a:cs typeface="Times New Roman"/>
              </a:rPr>
              <a:t>sent.</a:t>
            </a:r>
            <a:endParaRPr sz="1100">
              <a:latin typeface="Times New Roman"/>
              <a:cs typeface="Times New Roman"/>
            </a:endParaRPr>
          </a:p>
          <a:p>
            <a:pPr marL="12700" marR="270319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 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 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map.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FR7,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3.2.1.21 Functional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 requirement</a:t>
            </a:r>
            <a:r>
              <a:rPr dirty="0" sz="1100" spc="-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1.21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 </a:t>
            </a:r>
            <a:r>
              <a:rPr dirty="0" sz="1100" spc="-2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  <a:p>
            <a:pPr marL="12700" marR="104139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edit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password,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e-mail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address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also</a:t>
            </a:r>
            <a:endParaRPr sz="1100">
              <a:latin typeface="Times New Roman"/>
              <a:cs typeface="Times New Roman"/>
            </a:endParaRPr>
          </a:p>
          <a:p>
            <a:pPr marL="12700" marR="11874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choices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Swedish,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English,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French.</a:t>
            </a:r>
            <a:endParaRPr sz="1100">
              <a:latin typeface="Times New Roman"/>
              <a:cs typeface="Times New Roman"/>
            </a:endParaRPr>
          </a:p>
          <a:p>
            <a:pPr marL="12700" marR="1818639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application.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FR1</a:t>
            </a:r>
            <a:endParaRPr sz="1100">
              <a:latin typeface="Times New Roman"/>
              <a:cs typeface="Times New Roman"/>
            </a:endParaRPr>
          </a:p>
          <a:p>
            <a:pPr lvl="2" marL="353695" indent="-340995">
              <a:lnSpc>
                <a:spcPct val="100000"/>
              </a:lnSpc>
              <a:spcBef>
                <a:spcPts val="1185"/>
              </a:spcBef>
              <a:buClr>
                <a:srgbClr val="4F81BC"/>
              </a:buClr>
              <a:buFont typeface="Cambria"/>
              <a:buAutoNum type="arabicPeriod" startAt="2"/>
              <a:tabLst>
                <a:tab pos="353695" algn="l"/>
              </a:tabLst>
            </a:pP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User</a:t>
            </a:r>
            <a:r>
              <a:rPr dirty="0" sz="1100" spc="-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Class</a:t>
            </a:r>
            <a:r>
              <a:rPr dirty="0" sz="11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2 -</a:t>
            </a:r>
            <a:r>
              <a:rPr dirty="0" sz="11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Restaurant</a:t>
            </a:r>
            <a:r>
              <a:rPr dirty="0" sz="1100" spc="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>
                <a:solidFill>
                  <a:srgbClr val="4F81BC"/>
                </a:solidFill>
                <a:latin typeface="Cambria"/>
                <a:cs typeface="Cambria"/>
              </a:rPr>
              <a:t>Owner</a:t>
            </a:r>
            <a:endParaRPr sz="1100">
              <a:latin typeface="Cambria"/>
              <a:cs typeface="Cambria"/>
            </a:endParaRPr>
          </a:p>
          <a:p>
            <a:pPr lvl="3" marL="455930" indent="-443230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2.1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FR22</a:t>
            </a:r>
            <a:endParaRPr sz="1100">
              <a:latin typeface="Times New Roman"/>
              <a:cs typeface="Times New Roman"/>
            </a:endParaRPr>
          </a:p>
          <a:p>
            <a:pPr algn="just" marL="12700" marR="4285615">
              <a:lnSpc>
                <a:spcPct val="109100"/>
              </a:lnSpc>
              <a:spcBef>
                <a:spcPts val="10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Create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account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 create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</a:t>
            </a:r>
            <a:r>
              <a:rPr dirty="0" sz="1100" spc="-10">
                <a:latin typeface="Times New Roman"/>
                <a:cs typeface="Times New Roman"/>
              </a:rPr>
              <a:t>account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</a:t>
            </a:r>
            <a:endParaRPr sz="1100">
              <a:latin typeface="Times New Roman"/>
              <a:cs typeface="Times New Roman"/>
            </a:endParaRPr>
          </a:p>
          <a:p>
            <a:pPr marL="372110" marR="2534920">
              <a:lnSpc>
                <a:spcPct val="109500"/>
              </a:lnSpc>
              <a:spcBef>
                <a:spcPts val="102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Required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information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registration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330825" cy="76396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2110" marR="54419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r>
              <a:rPr dirty="0" sz="1100" spc="-10">
                <a:latin typeface="Times New Roman"/>
                <a:cs typeface="Times New Roman"/>
              </a:rPr>
              <a:t> user-</a:t>
            </a:r>
            <a:r>
              <a:rPr dirty="0" sz="1100" spc="-20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address</a:t>
            </a:r>
            <a:endParaRPr sz="1100">
              <a:latin typeface="Times New Roman"/>
              <a:cs typeface="Times New Roman"/>
            </a:endParaRPr>
          </a:p>
          <a:p>
            <a:pPr marL="372110" marR="3862704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e-</a:t>
            </a:r>
            <a:r>
              <a:rPr dirty="0" sz="1100">
                <a:latin typeface="Times New Roman"/>
                <a:cs typeface="Times New Roman"/>
              </a:rPr>
              <a:t>mail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address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number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verification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Full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information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registration</a:t>
            </a:r>
            <a:endParaRPr sz="1100">
              <a:latin typeface="Times New Roman"/>
              <a:cs typeface="Times New Roman"/>
            </a:endParaRPr>
          </a:p>
          <a:p>
            <a:pPr marL="372110" marR="1925955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372110" marR="4145915">
              <a:lnSpc>
                <a:spcPct val="1102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password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address</a:t>
            </a:r>
            <a:endParaRPr sz="1100">
              <a:latin typeface="Times New Roman"/>
              <a:cs typeface="Times New Roman"/>
            </a:endParaRPr>
          </a:p>
          <a:p>
            <a:pPr algn="just" marL="372110" marR="382524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e-</a:t>
            </a:r>
            <a:r>
              <a:rPr dirty="0" sz="1100">
                <a:latin typeface="Times New Roman"/>
                <a:cs typeface="Times New Roman"/>
              </a:rPr>
              <a:t>mail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address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number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number</a:t>
            </a:r>
            <a:endParaRPr sz="1100">
              <a:latin typeface="Times New Roman"/>
              <a:cs typeface="Times New Roman"/>
            </a:endParaRPr>
          </a:p>
          <a:p>
            <a:pPr algn="just" marL="37211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verification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Confirmed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registration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verification</a:t>
            </a:r>
            <a:endParaRPr sz="1100">
              <a:latin typeface="Times New Roman"/>
              <a:cs typeface="Times New Roman"/>
            </a:endParaRPr>
          </a:p>
          <a:p>
            <a:pPr marL="372110" marR="155892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received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confirmation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e-mail after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registration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confirmation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e-</a:t>
            </a:r>
            <a:r>
              <a:rPr dirty="0" sz="1100" spc="-20">
                <a:latin typeface="Times New Roman"/>
                <a:cs typeface="Times New Roman"/>
              </a:rPr>
              <a:t>mail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5">
                <a:latin typeface="Times New Roman"/>
                <a:cs typeface="Times New Roman"/>
              </a:rPr>
              <a:t> in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3.2.2.2</a:t>
            </a:r>
            <a:r>
              <a:rPr dirty="0" sz="1100" spc="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>
                <a:solidFill>
                  <a:srgbClr val="4F81BC"/>
                </a:solidFill>
                <a:latin typeface="Cambria"/>
                <a:cs typeface="Cambria"/>
              </a:rPr>
              <a:t>2.2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owner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log-</a:t>
            </a:r>
            <a:r>
              <a:rPr dirty="0" sz="1100" spc="-25" b="1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12700" marR="3869690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Successful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log-</a:t>
            </a:r>
            <a:r>
              <a:rPr dirty="0" sz="1100" spc="-25" b="1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Retrieve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  <a:p>
            <a:pPr marL="372110" marR="2573020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lost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  <a:p>
            <a:pPr marL="372110" marR="508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his/her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email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“Retrieve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password”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submits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email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containing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5072380" cy="81445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3.2.2.3</a:t>
            </a:r>
            <a:r>
              <a:rPr dirty="0" sz="1100" spc="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2.3</a:t>
            </a:r>
            <a:endParaRPr sz="11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114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FR24</a:t>
            </a:r>
            <a:endParaRPr sz="1100">
              <a:latin typeface="Times New Roman"/>
              <a:cs typeface="Times New Roman"/>
            </a:endParaRPr>
          </a:p>
          <a:p>
            <a:pPr algn="just" marL="12700" marR="3273425">
              <a:lnSpc>
                <a:spcPct val="1095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information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Show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fields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managing</a:t>
            </a:r>
            <a:r>
              <a:rPr dirty="0" sz="1100" spc="-10" b="1">
                <a:latin typeface="Times New Roman"/>
                <a:cs typeface="Times New Roman"/>
              </a:rPr>
              <a:t> 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Filling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mandatory</a:t>
            </a:r>
            <a:r>
              <a:rPr dirty="0" sz="1100" spc="-10" b="1">
                <a:latin typeface="Times New Roman"/>
                <a:cs typeface="Times New Roman"/>
              </a:rPr>
              <a:t> fields</a:t>
            </a:r>
            <a:endParaRPr sz="1100">
              <a:latin typeface="Times New Roman"/>
              <a:cs typeface="Times New Roman"/>
            </a:endParaRPr>
          </a:p>
          <a:p>
            <a:pPr marL="372110" marR="482600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mandatory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average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address</a:t>
            </a:r>
            <a:endParaRPr sz="1100">
              <a:latin typeface="Times New Roman"/>
              <a:cs typeface="Times New Roman"/>
            </a:endParaRPr>
          </a:p>
          <a:p>
            <a:pPr marL="372110" marR="360426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e-</a:t>
            </a:r>
            <a:r>
              <a:rPr dirty="0" sz="1100">
                <a:latin typeface="Times New Roman"/>
                <a:cs typeface="Times New Roman"/>
              </a:rPr>
              <a:t>mail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address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</a:t>
            </a:r>
            <a:r>
              <a:rPr dirty="0" sz="1100" spc="-10">
                <a:latin typeface="Times New Roman"/>
                <a:cs typeface="Times New Roman"/>
              </a:rPr>
              <a:t> number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mandatory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Filling in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optional</a:t>
            </a:r>
            <a:r>
              <a:rPr dirty="0" sz="1100" spc="-10" b="1">
                <a:latin typeface="Times New Roman"/>
                <a:cs typeface="Times New Roman"/>
              </a:rPr>
              <a:t> fields</a:t>
            </a:r>
            <a:endParaRPr sz="1100">
              <a:latin typeface="Times New Roman"/>
              <a:cs typeface="Times New Roman"/>
            </a:endParaRPr>
          </a:p>
          <a:p>
            <a:pPr marL="372110" marR="5080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menu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</a:t>
            </a:r>
            <a:endParaRPr sz="1100">
              <a:latin typeface="Times New Roman"/>
              <a:cs typeface="Times New Roman"/>
            </a:endParaRPr>
          </a:p>
          <a:p>
            <a:pPr marL="372110" marR="3291204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phone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Filling in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menu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field</a:t>
            </a:r>
            <a:endParaRPr sz="1100">
              <a:latin typeface="Times New Roman"/>
              <a:cs typeface="Times New Roman"/>
            </a:endParaRPr>
          </a:p>
          <a:p>
            <a:pPr marL="372110" marR="833119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menu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372110" marR="3526154">
              <a:lnSpc>
                <a:spcPts val="1450"/>
              </a:lnSpc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description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8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menu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Adding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information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mandatory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fields</a:t>
            </a:r>
            <a:endParaRPr sz="1100">
              <a:latin typeface="Times New Roman"/>
              <a:cs typeface="Times New Roman"/>
            </a:endParaRPr>
          </a:p>
          <a:p>
            <a:pPr marL="372110" marR="633730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filled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mandatory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submits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should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added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Adding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information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mandatory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optional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fields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filled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mandatory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4570095" cy="7513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2110" marR="1264285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fields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submits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added</a:t>
            </a:r>
            <a:endParaRPr sz="1100">
              <a:latin typeface="Times New Roman"/>
              <a:cs typeface="Times New Roman"/>
            </a:endParaRPr>
          </a:p>
          <a:p>
            <a:pPr marL="372110" marR="1986914">
              <a:lnSpc>
                <a:spcPct val="109100"/>
              </a:lnSpc>
              <a:spcBef>
                <a:spcPts val="104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Deleting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</a:t>
            </a:r>
            <a:r>
              <a:rPr dirty="0" sz="1100" spc="5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exists</a:t>
            </a:r>
            <a:endParaRPr sz="1100">
              <a:latin typeface="Times New Roman"/>
              <a:cs typeface="Times New Roman"/>
            </a:endParaRPr>
          </a:p>
          <a:p>
            <a:pPr marL="372110" marR="156400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deleted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Editing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372110" marR="1986914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exists</a:t>
            </a:r>
            <a:endParaRPr sz="1100">
              <a:latin typeface="Times New Roman"/>
              <a:cs typeface="Times New Roman"/>
            </a:endParaRPr>
          </a:p>
          <a:p>
            <a:pPr marL="372110" marR="1687195">
              <a:lnSpc>
                <a:spcPts val="145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edited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3.2.2.4</a:t>
            </a:r>
            <a:r>
              <a:rPr dirty="0" sz="1100" spc="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2.4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owner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-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Selecting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web-</a:t>
            </a:r>
            <a:r>
              <a:rPr dirty="0" sz="1100" spc="-10" b="1">
                <a:latin typeface="Times New Roman"/>
                <a:cs typeface="Times New Roman"/>
              </a:rPr>
              <a:t>portal</a:t>
            </a:r>
            <a:endParaRPr sz="1100">
              <a:latin typeface="Times New Roman"/>
              <a:cs typeface="Times New Roman"/>
            </a:endParaRPr>
          </a:p>
          <a:p>
            <a:pPr marL="12700" marR="2465070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select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 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web-portal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English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10" b="1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760095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Swedish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636270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Swedish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Swedish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French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636270">
              <a:lnSpc>
                <a:spcPts val="1450"/>
              </a:lnSpc>
              <a:spcBef>
                <a:spcPts val="4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French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7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French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Spanish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636270">
              <a:lnSpc>
                <a:spcPts val="1450"/>
              </a:lnSpc>
              <a:spcBef>
                <a:spcPts val="4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Spanish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Then 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Spanish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18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4568825" cy="81730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353695" indent="-340995">
              <a:lnSpc>
                <a:spcPct val="100000"/>
              </a:lnSpc>
              <a:spcBef>
                <a:spcPts val="100"/>
              </a:spcBef>
              <a:buClr>
                <a:srgbClr val="4F81BC"/>
              </a:buClr>
              <a:buFont typeface="Cambria"/>
              <a:buAutoNum type="arabicPeriod" startAt="3"/>
              <a:tabLst>
                <a:tab pos="353695" algn="l"/>
              </a:tabLst>
            </a:pP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User</a:t>
            </a:r>
            <a:r>
              <a:rPr dirty="0" sz="1100" spc="-2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Class</a:t>
            </a:r>
            <a:r>
              <a:rPr dirty="0" sz="1100" spc="-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3</a:t>
            </a:r>
            <a:r>
              <a:rPr dirty="0" sz="11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>
                <a:solidFill>
                  <a:srgbClr val="4F81BC"/>
                </a:solidFill>
                <a:latin typeface="Cambria"/>
                <a:cs typeface="Cambria"/>
              </a:rPr>
              <a:t>-</a:t>
            </a:r>
            <a:r>
              <a:rPr dirty="0" sz="1100" spc="-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4F81BC"/>
                </a:solidFill>
                <a:latin typeface="Cambria"/>
                <a:cs typeface="Cambria"/>
              </a:rPr>
              <a:t>Administrator</a:t>
            </a:r>
            <a:endParaRPr sz="1100">
              <a:latin typeface="Cambria"/>
              <a:cs typeface="Cambria"/>
            </a:endParaRPr>
          </a:p>
          <a:p>
            <a:pPr lvl="3" marL="455930" indent="-443230">
              <a:lnSpc>
                <a:spcPct val="100000"/>
              </a:lnSpc>
              <a:spcBef>
                <a:spcPts val="1265"/>
              </a:spcBef>
              <a:buAutoNum type="arabicPeriod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3.1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FR26</a:t>
            </a:r>
            <a:endParaRPr sz="1100">
              <a:latin typeface="Times New Roman"/>
              <a:cs typeface="Times New Roman"/>
            </a:endParaRPr>
          </a:p>
          <a:p>
            <a:pPr marL="12700" marR="2705735">
              <a:lnSpc>
                <a:spcPct val="1095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Administrator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log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25" b="1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Successful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log-</a:t>
            </a:r>
            <a:r>
              <a:rPr dirty="0" sz="1100" spc="-25" b="1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5">
                <a:latin typeface="Times New Roman"/>
                <a:cs typeface="Times New Roman"/>
              </a:rPr>
              <a:t> in</a:t>
            </a:r>
            <a:endParaRPr sz="1100">
              <a:latin typeface="Times New Roman"/>
              <a:cs typeface="Times New Roman"/>
            </a:endParaRPr>
          </a:p>
          <a:p>
            <a:pPr marL="372110" marR="685800">
              <a:lnSpc>
                <a:spcPts val="145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administrator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20"/>
              </a:spcBef>
              <a:buAutoNum type="arabicPeriod" startAt="2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3.2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Verify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12700" marR="1551940">
              <a:lnSpc>
                <a:spcPts val="1450"/>
              </a:lnSpc>
              <a:spcBef>
                <a:spcPts val="4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verify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20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Verify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0" b="1">
                <a:latin typeface="Times New Roman"/>
                <a:cs typeface="Times New Roman"/>
              </a:rPr>
              <a:t> 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134810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verifies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owner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5">
                <a:latin typeface="Times New Roman"/>
                <a:cs typeface="Times New Roman"/>
              </a:rPr>
              <a:t> 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notified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confirmation</a:t>
            </a:r>
            <a:r>
              <a:rPr dirty="0" sz="1100" spc="-10">
                <a:latin typeface="Times New Roman"/>
                <a:cs typeface="Times New Roman"/>
              </a:rPr>
              <a:t> email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Reject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116903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20">
                <a:latin typeface="Times New Roman"/>
                <a:cs typeface="Times New Roman"/>
              </a:rPr>
              <a:t>owner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5">
                <a:latin typeface="Times New Roman"/>
                <a:cs typeface="Times New Roman"/>
              </a:rPr>
              <a:t> 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notified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email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90"/>
              </a:spcBef>
              <a:buAutoNum type="arabicPeriod" startAt="3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3.3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types</a:t>
            </a:r>
            <a:endParaRPr sz="1100">
              <a:latin typeface="Times New Roman"/>
              <a:cs typeface="Times New Roman"/>
            </a:endParaRPr>
          </a:p>
          <a:p>
            <a:pPr marL="12700" marR="2289175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types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types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new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20" b="1">
                <a:latin typeface="Times New Roman"/>
                <a:cs typeface="Times New Roman"/>
              </a:rPr>
              <a:t> type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types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04030" y="9277325"/>
            <a:ext cx="16573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5"/>
              </a:lnSpc>
            </a:pPr>
            <a:r>
              <a:rPr dirty="0" sz="1100" spc="-25"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02004" y="877671"/>
            <a:ext cx="5057775" cy="817880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372110">
              <a:lnSpc>
                <a:spcPct val="100000"/>
              </a:lnSpc>
              <a:spcBef>
                <a:spcPts val="209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Editing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existing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edits 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updated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types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Delete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restaurant </a:t>
            </a:r>
            <a:r>
              <a:rPr dirty="0" sz="1100" spc="-20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removed 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 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types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ts val="1295"/>
              </a:lnSpc>
              <a:spcBef>
                <a:spcPts val="1175"/>
              </a:spcBef>
              <a:buAutoNum type="arabicPeriod" startAt="4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3.4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ts val="1295"/>
              </a:lnSpc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FR29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dishes</a:t>
            </a:r>
            <a:endParaRPr sz="1100">
              <a:latin typeface="Times New Roman"/>
              <a:cs typeface="Times New Roman"/>
            </a:endParaRPr>
          </a:p>
          <a:p>
            <a:pPr marL="12700" marR="3310254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dishes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dishes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new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372110" marR="2303145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added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dishes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Editing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existing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edits 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20">
                <a:latin typeface="Times New Roman"/>
                <a:cs typeface="Times New Roman"/>
              </a:rPr>
              <a:t> dish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updated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dishes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Delete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372110" marR="2571115">
              <a:lnSpc>
                <a:spcPts val="1450"/>
              </a:lnSpc>
              <a:spcBef>
                <a:spcPts val="4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0">
                <a:latin typeface="Times New Roman"/>
                <a:cs typeface="Times New Roman"/>
              </a:rPr>
              <a:t>dish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removed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dishes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90"/>
              </a:spcBef>
              <a:buAutoNum type="arabicPeriod" startAt="5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3.5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FR30</a:t>
            </a:r>
            <a:endParaRPr sz="1100">
              <a:latin typeface="Times New Roman"/>
              <a:cs typeface="Times New Roman"/>
            </a:endParaRPr>
          </a:p>
          <a:p>
            <a:pPr marL="12700" marR="2594610">
              <a:lnSpc>
                <a:spcPct val="109700"/>
              </a:lnSpc>
              <a:spcBef>
                <a:spcPts val="5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Add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161163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information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Delete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3721735" cy="8185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2110" marR="69977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10">
                <a:latin typeface="Times New Roman"/>
                <a:cs typeface="Times New Roman"/>
              </a:rPr>
              <a:t>exists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deleted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Edit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82423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10">
                <a:latin typeface="Times New Roman"/>
                <a:cs typeface="Times New Roman"/>
              </a:rPr>
              <a:t>exists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edits the</a:t>
            </a:r>
            <a:r>
              <a:rPr dirty="0" sz="1100" spc="-10">
                <a:latin typeface="Times New Roman"/>
                <a:cs typeface="Times New Roman"/>
              </a:rPr>
              <a:t> 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edited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ts val="1295"/>
              </a:lnSpc>
              <a:spcBef>
                <a:spcPts val="1175"/>
              </a:spcBef>
              <a:buAutoNum type="arabicPeriod" startAt="6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3.6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ts val="1295"/>
              </a:lnSpc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FR31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Manage</a:t>
            </a:r>
            <a:r>
              <a:rPr dirty="0" sz="1100" spc="-20" b="1">
                <a:latin typeface="Times New Roman"/>
                <a:cs typeface="Times New Roman"/>
              </a:rPr>
              <a:t> users</a:t>
            </a:r>
            <a:endParaRPr sz="1100">
              <a:latin typeface="Times New Roman"/>
              <a:cs typeface="Times New Roman"/>
            </a:endParaRPr>
          </a:p>
          <a:p>
            <a:pPr marL="12700" marR="1820545">
              <a:lnSpc>
                <a:spcPts val="1460"/>
              </a:lnSpc>
              <a:spcBef>
                <a:spcPts val="4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keep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users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Edit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existing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user’s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81343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edits 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20">
                <a:latin typeface="Times New Roman"/>
                <a:cs typeface="Times New Roman"/>
              </a:rPr>
              <a:t> user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updated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Delete/Inactivate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existing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user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688975">
              <a:lnSpc>
                <a:spcPts val="1450"/>
              </a:lnSpc>
              <a:spcBef>
                <a:spcPts val="70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 existing</a:t>
            </a:r>
            <a:r>
              <a:rPr dirty="0" sz="1100" spc="-20">
                <a:latin typeface="Times New Roman"/>
                <a:cs typeface="Times New Roman"/>
              </a:rPr>
              <a:t> user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deleted</a:t>
            </a:r>
            <a:endParaRPr sz="1100">
              <a:latin typeface="Times New Roman"/>
              <a:cs typeface="Times New Roman"/>
            </a:endParaRPr>
          </a:p>
          <a:p>
            <a:pPr lvl="3" marL="455930" indent="-443230">
              <a:lnSpc>
                <a:spcPct val="100000"/>
              </a:lnSpc>
              <a:spcBef>
                <a:spcPts val="1120"/>
              </a:spcBef>
              <a:buAutoNum type="arabicPeriod" startAt="7"/>
              <a:tabLst>
                <a:tab pos="45593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3.7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FR32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Manage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owners</a:t>
            </a:r>
            <a:endParaRPr sz="1100">
              <a:latin typeface="Times New Roman"/>
              <a:cs typeface="Times New Roman"/>
            </a:endParaRPr>
          </a:p>
          <a:p>
            <a:pPr marL="12700" marR="1118235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keep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owners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10">
                <a:latin typeface="Times New Roman"/>
                <a:cs typeface="Times New Roman"/>
              </a:rPr>
              <a:t>owners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new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26670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</a:t>
            </a:r>
            <a:r>
              <a:rPr dirty="0" sz="1100" spc="-20">
                <a:latin typeface="Times New Roman"/>
                <a:cs typeface="Times New Roman"/>
              </a:rPr>
              <a:t>owner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added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Edit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existing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372110" marR="10985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edits 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owner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updated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Delete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existing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restaurant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owner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867400" cy="7647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2110" marR="2133600">
              <a:lnSpc>
                <a:spcPct val="110200"/>
              </a:lnSpc>
              <a:spcBef>
                <a:spcPts val="9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deletes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owner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deleted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deleted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3.2.3.8</a:t>
            </a:r>
            <a:r>
              <a:rPr dirty="0" sz="1100" spc="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Functional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requirement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3.8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FR33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latin typeface="Times New Roman"/>
                <a:cs typeface="Times New Roman"/>
              </a:rPr>
              <a:t>Feature: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Administrator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-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language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web-</a:t>
            </a:r>
            <a:r>
              <a:rPr dirty="0" sz="1100" spc="-10" b="1">
                <a:latin typeface="Times New Roman"/>
                <a:cs typeface="Times New Roman"/>
              </a:rPr>
              <a:t>portal</a:t>
            </a:r>
            <a:endParaRPr sz="1100">
              <a:latin typeface="Times New Roman"/>
              <a:cs typeface="Times New Roman"/>
            </a:endParaRPr>
          </a:p>
          <a:p>
            <a:pPr marL="12700" marR="3762375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 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web-portal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administrator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 a preferred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language 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web-portal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English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10" b="1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372110" marR="2124075">
              <a:lnSpc>
                <a:spcPts val="145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10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9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Swedish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2124075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10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Swedish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Swedish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00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French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2124075">
              <a:lnSpc>
                <a:spcPts val="1450"/>
              </a:lnSpc>
              <a:spcBef>
                <a:spcPts val="45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10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French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French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Scenario: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Select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Spanish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preferred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 marR="2122170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administrator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 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10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portal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Spanish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70"/>
              </a:spcBef>
              <a:buClr>
                <a:srgbClr val="4F81BC"/>
              </a:buClr>
              <a:buFont typeface="Cambria"/>
              <a:buAutoNum type="arabicPeriod" startAt="3"/>
              <a:tabLst>
                <a:tab pos="280035" algn="l"/>
              </a:tabLst>
            </a:pP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Performance</a:t>
            </a:r>
            <a:r>
              <a:rPr dirty="0" sz="1300" spc="2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requirements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10000"/>
              </a:lnSpc>
              <a:spcBef>
                <a:spcPts val="102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software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performance.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34544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Prominent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search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 feature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feature</a:t>
            </a:r>
            <a:endParaRPr sz="1100">
              <a:latin typeface="Times New Roman"/>
              <a:cs typeface="Times New Roman"/>
            </a:endParaRPr>
          </a:p>
          <a:p>
            <a:pPr marL="12700" marR="157226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user. </a:t>
            </a:r>
            <a:r>
              <a:rPr dirty="0" sz="1100">
                <a:latin typeface="Times New Roman"/>
                <a:cs typeface="Times New Roman"/>
              </a:rPr>
              <a:t>RAT: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find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easily.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5894070" cy="769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345440" indent="-33274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4544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Usage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dirty="0" sz="1100" spc="-3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search</a:t>
            </a:r>
            <a:r>
              <a:rPr dirty="0" sz="1100" spc="-4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feature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feature</a:t>
            </a:r>
            <a:endParaRPr sz="1100">
              <a:latin typeface="Times New Roman"/>
              <a:cs typeface="Times New Roman"/>
            </a:endParaRPr>
          </a:p>
          <a:p>
            <a:pPr marL="12700" marR="106426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evident,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simple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understand. </a:t>
            </a: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easily.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75"/>
              </a:spcBef>
              <a:buAutoNum type="arabicPeriod" startAt="3"/>
              <a:tabLst>
                <a:tab pos="34544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Usage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dirty="0" sz="1100" spc="-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result</a:t>
            </a:r>
            <a:r>
              <a:rPr dirty="0" sz="1100" spc="-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in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list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view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50"/>
              </a:lnSpc>
              <a:spcBef>
                <a:spcPts val="70"/>
              </a:spcBef>
            </a:pPr>
            <a:r>
              <a:rPr dirty="0" sz="1100">
                <a:latin typeface="Times New Roman"/>
                <a:cs typeface="Times New Roman"/>
              </a:rPr>
              <a:t>DESC: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friendly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easy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element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click.</a:t>
            </a:r>
            <a:endParaRPr sz="1100">
              <a:latin typeface="Times New Roman"/>
              <a:cs typeface="Times New Roman"/>
            </a:endParaRPr>
          </a:p>
          <a:p>
            <a:pPr marL="12700" marR="2891155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easily.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20"/>
              </a:spcBef>
              <a:buAutoNum type="arabicPeriod" startAt="4"/>
              <a:tabLst>
                <a:tab pos="34544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Usage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dirty="0" sz="1100" spc="-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result</a:t>
            </a:r>
            <a:r>
              <a:rPr dirty="0" sz="1100" spc="-3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in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map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view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QR4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friendly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Selecting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pin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click.</a:t>
            </a:r>
            <a:endParaRPr sz="1100">
              <a:latin typeface="Times New Roman"/>
              <a:cs typeface="Times New Roman"/>
            </a:endParaRPr>
          </a:p>
          <a:p>
            <a:pPr marL="12700" marR="282067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easily.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20"/>
              </a:spcBef>
              <a:buAutoNum type="arabicPeriod" startAt="5"/>
              <a:tabLst>
                <a:tab pos="345440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Usage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dirty="0" sz="1100" spc="-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information</a:t>
            </a:r>
            <a:r>
              <a:rPr dirty="0" sz="1100" spc="-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link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link</a:t>
            </a:r>
            <a:endParaRPr sz="1100">
              <a:latin typeface="Times New Roman"/>
              <a:cs typeface="Times New Roman"/>
            </a:endParaRPr>
          </a:p>
          <a:p>
            <a:pPr marL="12700" marR="4635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prominent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should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evident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link. </a:t>
            </a:r>
            <a:r>
              <a:rPr dirty="0" sz="1100">
                <a:latin typeface="Times New Roman"/>
                <a:cs typeface="Times New Roman"/>
              </a:rPr>
              <a:t>Selecting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 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take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click.</a:t>
            </a:r>
            <a:endParaRPr sz="1100">
              <a:latin typeface="Times New Roman"/>
              <a:cs typeface="Times New Roman"/>
            </a:endParaRPr>
          </a:p>
          <a:p>
            <a:pPr marL="12700" marR="245618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easily.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10"/>
              </a:spcBef>
              <a:buAutoNum type="arabicPeriod" startAt="6"/>
              <a:tabLst>
                <a:tab pos="34544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Response</a:t>
            </a:r>
            <a:r>
              <a:rPr dirty="0" sz="1100" spc="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time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QR6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ResponseTime</a:t>
            </a:r>
            <a:endParaRPr sz="1100">
              <a:latin typeface="Times New Roman"/>
              <a:cs typeface="Times New Roman"/>
            </a:endParaRPr>
          </a:p>
          <a:p>
            <a:pPr marL="12700" marR="369252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fastness 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 </a:t>
            </a: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</a:t>
            </a:r>
            <a:endParaRPr sz="1100">
              <a:latin typeface="Times New Roman"/>
              <a:cs typeface="Times New Roman"/>
            </a:endParaRPr>
          </a:p>
          <a:p>
            <a:pPr marL="12700" marR="202565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 </a:t>
            </a: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WISH: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time.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5866765" cy="812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3.3.7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System</a:t>
            </a:r>
            <a:r>
              <a:rPr dirty="0" sz="1100" spc="-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dependability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SystemDependability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fault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tolerance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system.</a:t>
            </a:r>
            <a:endParaRPr sz="1100">
              <a:latin typeface="Times New Roman"/>
              <a:cs typeface="Times New Roman"/>
            </a:endParaRPr>
          </a:p>
          <a:p>
            <a:pPr marL="12700" marR="29209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Internet 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strange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informed.</a:t>
            </a:r>
            <a:endParaRPr sz="1100">
              <a:latin typeface="Times New Roman"/>
              <a:cs typeface="Times New Roman"/>
            </a:endParaRPr>
          </a:p>
          <a:p>
            <a:pPr marL="12700" marR="16573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 </a:t>
            </a: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80"/>
              </a:spcBef>
              <a:buClr>
                <a:srgbClr val="4F81BC"/>
              </a:buClr>
              <a:buFont typeface="Cambria"/>
              <a:buAutoNum type="arabicPeriod" startAt="4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Design</a:t>
            </a:r>
            <a:r>
              <a:rPr dirty="0" sz="1300" spc="-60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constraints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constraints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hardware.</a:t>
            </a:r>
            <a:endParaRPr sz="1100">
              <a:latin typeface="Times New Roman"/>
              <a:cs typeface="Times New Roman"/>
            </a:endParaRPr>
          </a:p>
          <a:p>
            <a:pPr lvl="2" marL="343535" indent="-33083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343535" algn="l"/>
              </a:tabLst>
            </a:pP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Hard</a:t>
            </a:r>
            <a:r>
              <a:rPr dirty="0" sz="1100" spc="-2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drive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20" b="1" i="1">
                <a:solidFill>
                  <a:srgbClr val="4F81BC"/>
                </a:solidFill>
                <a:latin typeface="Cambria"/>
                <a:cs typeface="Cambria"/>
              </a:rPr>
              <a:t>space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QR10</a:t>
            </a:r>
            <a:endParaRPr sz="1100">
              <a:latin typeface="Times New Roman"/>
              <a:cs typeface="Times New Roman"/>
            </a:endParaRPr>
          </a:p>
          <a:p>
            <a:pPr marL="12700" marR="4479925">
              <a:lnSpc>
                <a:spcPts val="145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HardDriveSpace </a:t>
            </a: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space.</a:t>
            </a:r>
            <a:endParaRPr sz="1100">
              <a:latin typeface="Times New Roman"/>
              <a:cs typeface="Times New Roman"/>
            </a:endParaRPr>
          </a:p>
          <a:p>
            <a:pPr marL="12700" marR="2917825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application’s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space. </a:t>
            </a: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MB.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MB.</a:t>
            </a:r>
            <a:endParaRPr sz="1100">
              <a:latin typeface="Times New Roman"/>
              <a:cs typeface="Times New Roman"/>
            </a:endParaRPr>
          </a:p>
          <a:p>
            <a:pPr algn="just" marL="12700" marR="417766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PLAN: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MB. </a:t>
            </a:r>
            <a:r>
              <a:rPr dirty="0" sz="1100">
                <a:latin typeface="Times New Roman"/>
                <a:cs typeface="Times New Roman"/>
              </a:rPr>
              <a:t>WISH: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MB. </a:t>
            </a:r>
            <a:r>
              <a:rPr dirty="0" sz="1100">
                <a:latin typeface="Times New Roman"/>
                <a:cs typeface="Times New Roman"/>
              </a:rPr>
              <a:t>MB: </a:t>
            </a:r>
            <a:r>
              <a:rPr dirty="0" sz="1100" spc="-10">
                <a:latin typeface="Times New Roman"/>
                <a:cs typeface="Times New Roman"/>
              </a:rPr>
              <a:t>DEFINED: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Megabyte</a:t>
            </a:r>
            <a:endParaRPr sz="1100">
              <a:latin typeface="Times New Roman"/>
              <a:cs typeface="Times New Roman"/>
            </a:endParaRPr>
          </a:p>
          <a:p>
            <a:pPr lvl="2" marL="343535" indent="-330835">
              <a:lnSpc>
                <a:spcPct val="100000"/>
              </a:lnSpc>
              <a:spcBef>
                <a:spcPts val="1190"/>
              </a:spcBef>
              <a:buAutoNum type="arabicPeriod" startAt="2"/>
              <a:tabLst>
                <a:tab pos="343535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Application</a:t>
            </a:r>
            <a:r>
              <a:rPr dirty="0" sz="1100" spc="-1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b="1" i="1">
                <a:solidFill>
                  <a:srgbClr val="4F81BC"/>
                </a:solidFill>
                <a:latin typeface="Cambria"/>
                <a:cs typeface="Cambria"/>
              </a:rPr>
              <a:t>memory</a:t>
            </a:r>
            <a:r>
              <a:rPr dirty="0" sz="1100" spc="5" b="1" i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usage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ApplicationMemoryUsage</a:t>
            </a:r>
            <a:endParaRPr sz="1100">
              <a:latin typeface="Times New Roman"/>
              <a:cs typeface="Times New Roman"/>
            </a:endParaRPr>
          </a:p>
          <a:p>
            <a:pPr marL="12700" marR="160655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amount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memory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occupied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 </a:t>
            </a: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MB.</a:t>
            </a:r>
            <a:endParaRPr sz="1100">
              <a:latin typeface="Times New Roman"/>
              <a:cs typeface="Times New Roman"/>
            </a:endParaRPr>
          </a:p>
          <a:p>
            <a:pPr marL="12700" marR="198183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 </a:t>
            </a: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MB.</a:t>
            </a:r>
            <a:endParaRPr sz="1100">
              <a:latin typeface="Times New Roman"/>
              <a:cs typeface="Times New Roman"/>
            </a:endParaRPr>
          </a:p>
          <a:p>
            <a:pPr marL="12700" marR="4212590">
              <a:lnSpc>
                <a:spcPts val="1450"/>
              </a:lnSpc>
            </a:pPr>
            <a:r>
              <a:rPr dirty="0" sz="1100">
                <a:latin typeface="Times New Roman"/>
                <a:cs typeface="Times New Roman"/>
              </a:rPr>
              <a:t>PLAN: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35">
                <a:latin typeface="Times New Roman"/>
                <a:cs typeface="Times New Roman"/>
              </a:rPr>
              <a:t>MB </a:t>
            </a:r>
            <a:r>
              <a:rPr dirty="0" sz="1100">
                <a:latin typeface="Times New Roman"/>
                <a:cs typeface="Times New Roman"/>
              </a:rPr>
              <a:t>WISH: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35">
                <a:latin typeface="Times New Roman"/>
                <a:cs typeface="Times New Roman"/>
              </a:rPr>
              <a:t>MB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Operate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System: </a:t>
            </a:r>
            <a:r>
              <a:rPr dirty="0" sz="1100" spc="-10">
                <a:latin typeface="Times New Roman"/>
                <a:cs typeface="Times New Roman"/>
              </a:rPr>
              <a:t>DEFINED: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mobile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running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MB: </a:t>
            </a:r>
            <a:r>
              <a:rPr dirty="0" sz="1100" spc="-10">
                <a:latin typeface="Times New Roman"/>
                <a:cs typeface="Times New Roman"/>
              </a:rPr>
              <a:t>DEFINED: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Megabyte.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70"/>
              </a:spcBef>
              <a:buClr>
                <a:srgbClr val="4F81BC"/>
              </a:buClr>
              <a:buFont typeface="Cambria"/>
              <a:buAutoNum type="arabicPeriod" startAt="5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Software</a:t>
            </a:r>
            <a:r>
              <a:rPr dirty="0" sz="1300" spc="-4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system</a:t>
            </a:r>
            <a:r>
              <a:rPr dirty="0" sz="1300" spc="-2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attributes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10000"/>
              </a:lnSpc>
              <a:spcBef>
                <a:spcPts val="2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 reliability,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availability,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maintainability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system.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90"/>
              </a:spcBef>
              <a:buAutoNum type="arabicPeriod"/>
              <a:tabLst>
                <a:tab pos="34544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Reliability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SystemReliability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807075" cy="815149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29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system.</a:t>
            </a:r>
            <a:endParaRPr sz="1100">
              <a:latin typeface="Times New Roman"/>
              <a:cs typeface="Times New Roman"/>
            </a:endParaRPr>
          </a:p>
          <a:p>
            <a:pPr algn="just" marL="12700" marR="169100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search. </a:t>
            </a: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</a:t>
            </a:r>
            <a:endParaRPr sz="1100">
              <a:latin typeface="Times New Roman"/>
              <a:cs typeface="Times New Roman"/>
            </a:endParaRPr>
          </a:p>
          <a:p>
            <a:pPr algn="just" marL="12700" marR="355409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98%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searches. </a:t>
            </a:r>
            <a:r>
              <a:rPr dirty="0" sz="1100">
                <a:latin typeface="Times New Roman"/>
                <a:cs typeface="Times New Roman"/>
              </a:rPr>
              <a:t>PLAN: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99%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searches. </a:t>
            </a:r>
            <a:r>
              <a:rPr dirty="0" sz="1100">
                <a:latin typeface="Times New Roman"/>
                <a:cs typeface="Times New Roman"/>
              </a:rPr>
              <a:t>WISH: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searches.</a:t>
            </a:r>
            <a:endParaRPr sz="1100">
              <a:latin typeface="Times New Roman"/>
              <a:cs typeface="Times New Roman"/>
            </a:endParaRPr>
          </a:p>
          <a:p>
            <a:pPr lvl="2" marL="343535" indent="-330835">
              <a:lnSpc>
                <a:spcPct val="100000"/>
              </a:lnSpc>
              <a:spcBef>
                <a:spcPts val="1190"/>
              </a:spcBef>
              <a:buAutoNum type="arabicPeriod" startAt="2"/>
              <a:tabLst>
                <a:tab pos="343535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Availability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5" b="1">
                <a:latin typeface="Times New Roman"/>
                <a:cs typeface="Times New Roman"/>
              </a:rPr>
              <a:t>QR7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SystemAvailability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availability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the 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 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used.</a:t>
            </a:r>
            <a:endParaRPr sz="1100">
              <a:latin typeface="Times New Roman"/>
              <a:cs typeface="Times New Roman"/>
            </a:endParaRPr>
          </a:p>
          <a:p>
            <a:pPr marL="12700" marR="157797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average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availability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considering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failing). </a:t>
            </a: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</a:t>
            </a:r>
            <a:endParaRPr sz="1100">
              <a:latin typeface="Times New Roman"/>
              <a:cs typeface="Times New Roman"/>
            </a:endParaRPr>
          </a:p>
          <a:p>
            <a:pPr algn="just" marL="12700" marR="378079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98%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 </a:t>
            </a:r>
            <a:r>
              <a:rPr dirty="0" sz="1100">
                <a:latin typeface="Times New Roman"/>
                <a:cs typeface="Times New Roman"/>
              </a:rPr>
              <a:t>PLAN: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99%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 </a:t>
            </a:r>
            <a:r>
              <a:rPr dirty="0" sz="1100">
                <a:latin typeface="Times New Roman"/>
                <a:cs typeface="Times New Roman"/>
              </a:rPr>
              <a:t>WISH: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QR22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Internet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Connection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Internet.</a:t>
            </a:r>
            <a:endParaRPr sz="1100">
              <a:latin typeface="Times New Roman"/>
              <a:cs typeface="Times New Roman"/>
            </a:endParaRPr>
          </a:p>
          <a:p>
            <a:pPr marL="12700" marR="1958975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database.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QR23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Connection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connected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GPS</a:t>
            </a:r>
            <a:r>
              <a:rPr dirty="0" sz="1100" spc="-10">
                <a:latin typeface="Times New Roman"/>
                <a:cs typeface="Times New Roman"/>
              </a:rPr>
              <a:t> device.</a:t>
            </a:r>
            <a:endParaRPr sz="1100">
              <a:latin typeface="Times New Roman"/>
              <a:cs typeface="Times New Roman"/>
            </a:endParaRPr>
          </a:p>
          <a:p>
            <a:pPr marL="12700" marR="40830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location,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calculate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distance.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90"/>
              </a:spcBef>
              <a:buAutoNum type="arabicPeriod" startAt="3"/>
              <a:tabLst>
                <a:tab pos="34544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Security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CommunicationSecurity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server.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SCALE: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messages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encrypted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 others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cannot get </a:t>
            </a:r>
            <a:r>
              <a:rPr dirty="0" sz="1100" spc="-10">
                <a:latin typeface="Times New Roman"/>
                <a:cs typeface="Times New Roman"/>
              </a:rPr>
              <a:t>user-</a:t>
            </a:r>
            <a:r>
              <a:rPr dirty="0" sz="1100" spc="-20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password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messages.</a:t>
            </a:r>
            <a:endParaRPr sz="1100">
              <a:latin typeface="Times New Roman"/>
              <a:cs typeface="Times New Roman"/>
            </a:endParaRPr>
          </a:p>
          <a:p>
            <a:pPr marL="12700" marR="114300">
              <a:lnSpc>
                <a:spcPct val="1100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Attempts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 </a:t>
            </a:r>
            <a:r>
              <a:rPr dirty="0" sz="1100" spc="-10">
                <a:latin typeface="Times New Roman"/>
                <a:cs typeface="Times New Roman"/>
              </a:rPr>
              <a:t>user-</a:t>
            </a:r>
            <a:r>
              <a:rPr dirty="0" sz="1100">
                <a:latin typeface="Times New Roman"/>
                <a:cs typeface="Times New Roman"/>
              </a:rPr>
              <a:t>name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password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messages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session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testing.</a:t>
            </a:r>
            <a:endParaRPr sz="1100">
              <a:latin typeface="Times New Roman"/>
              <a:cs typeface="Times New Roman"/>
            </a:endParaRPr>
          </a:p>
          <a:p>
            <a:pPr marL="12700" marR="243204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Messages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log-in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session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be </a:t>
            </a:r>
            <a:r>
              <a:rPr dirty="0" sz="1100" spc="-10">
                <a:latin typeface="Times New Roman"/>
                <a:cs typeface="Times New Roman"/>
              </a:rPr>
              <a:t>encrypted.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Communication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Messages: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exchanged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client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server.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QR13</a:t>
            </a:r>
            <a:endParaRPr sz="1100">
              <a:latin typeface="Times New Roman"/>
              <a:cs typeface="Times New Roman"/>
            </a:endParaRPr>
          </a:p>
          <a:p>
            <a:pPr marL="12700" marR="3175000">
              <a:lnSpc>
                <a:spcPts val="1450"/>
              </a:lnSpc>
              <a:spcBef>
                <a:spcPts val="5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RestaurantOwnerLoginAccountSecurity </a:t>
            </a: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883910" cy="8235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9539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with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non-existing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notified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log-in</a:t>
            </a:r>
            <a:r>
              <a:rPr dirty="0" sz="1100" spc="-10">
                <a:latin typeface="Times New Roman"/>
                <a:cs typeface="Times New Roman"/>
              </a:rPr>
              <a:t> failure. </a:t>
            </a:r>
            <a:r>
              <a:rPr dirty="0" sz="1100">
                <a:latin typeface="Times New Roman"/>
                <a:cs typeface="Times New Roman"/>
              </a:rPr>
              <a:t>METER: 1000 attempts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with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non-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account during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QR14</a:t>
            </a:r>
            <a:endParaRPr sz="1100">
              <a:latin typeface="Times New Roman"/>
              <a:cs typeface="Times New Roman"/>
            </a:endParaRPr>
          </a:p>
          <a:p>
            <a:pPr marL="12700" marR="3839845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AdminLoginAccountSecurity </a:t>
            </a: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accounts.</a:t>
            </a:r>
            <a:endParaRPr sz="1100">
              <a:latin typeface="Times New Roman"/>
              <a:cs typeface="Times New Roman"/>
            </a:endParaRPr>
          </a:p>
          <a:p>
            <a:pPr marL="12700" marR="56515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non-existing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should </a:t>
            </a:r>
            <a:r>
              <a:rPr dirty="0" sz="1100">
                <a:latin typeface="Times New Roman"/>
                <a:cs typeface="Times New Roman"/>
              </a:rPr>
              <a:t>not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logged in.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 should 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notified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failure.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00">
                <a:latin typeface="Times New Roman"/>
                <a:cs typeface="Times New Roman"/>
              </a:rPr>
              <a:t>METER: 1000 attempts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with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non-</a:t>
            </a:r>
            <a:r>
              <a:rPr dirty="0" sz="1100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account during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QR15</a:t>
            </a:r>
            <a:endParaRPr sz="1100">
              <a:latin typeface="Times New Roman"/>
              <a:cs typeface="Times New Roman"/>
            </a:endParaRPr>
          </a:p>
          <a:p>
            <a:pPr marL="12700" marR="3277870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RestaurantOwnerAccountSecurity </a:t>
            </a: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owners</a:t>
            </a:r>
            <a:r>
              <a:rPr dirty="0" sz="1100" spc="-10">
                <a:latin typeface="Times New Roman"/>
                <a:cs typeface="Times New Roman"/>
              </a:rPr>
              <a:t> accounts.</a:t>
            </a:r>
            <a:endParaRPr sz="1100">
              <a:latin typeface="Times New Roman"/>
              <a:cs typeface="Times New Roman"/>
            </a:endParaRPr>
          </a:p>
          <a:p>
            <a:pPr marL="12700" marR="18288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address 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certain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after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failed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attempts.</a:t>
            </a:r>
            <a:endParaRPr sz="1100">
              <a:latin typeface="Times New Roman"/>
              <a:cs typeface="Times New Roman"/>
            </a:endParaRPr>
          </a:p>
          <a:p>
            <a:pPr marL="12700" marR="157480">
              <a:lnSpc>
                <a:spcPts val="145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METER: 1000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attempts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during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 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locked because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failed</a:t>
            </a:r>
            <a:r>
              <a:rPr dirty="0" sz="1100" spc="-10">
                <a:latin typeface="Times New Roman"/>
                <a:cs typeface="Times New Roman"/>
              </a:rPr>
              <a:t> 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attempts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times.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half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function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disabled.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QR16</a:t>
            </a:r>
            <a:endParaRPr sz="1100">
              <a:latin typeface="Times New Roman"/>
              <a:cs typeface="Times New Roman"/>
            </a:endParaRPr>
          </a:p>
          <a:p>
            <a:pPr marL="12700" marR="3919220">
              <a:lnSpc>
                <a:spcPts val="1460"/>
              </a:lnSpc>
              <a:spcBef>
                <a:spcPts val="4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AdminAccountSecurity </a:t>
            </a: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</a:t>
            </a:r>
            <a:r>
              <a:rPr dirty="0" sz="1100" spc="-10">
                <a:latin typeface="Times New Roman"/>
                <a:cs typeface="Times New Roman"/>
              </a:rPr>
              <a:t> accounts.</a:t>
            </a:r>
            <a:endParaRPr sz="1100">
              <a:latin typeface="Times New Roman"/>
              <a:cs typeface="Times New Roman"/>
            </a:endParaRPr>
          </a:p>
          <a:p>
            <a:pPr marL="12700" marR="11430">
              <a:lnSpc>
                <a:spcPts val="145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admin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address 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portal 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certain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period </a:t>
            </a:r>
            <a:r>
              <a:rPr dirty="0" sz="1100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failed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attempts.</a:t>
            </a:r>
            <a:endParaRPr sz="1100">
              <a:latin typeface="Times New Roman"/>
              <a:cs typeface="Times New Roman"/>
            </a:endParaRPr>
          </a:p>
          <a:p>
            <a:pPr marL="12700" marR="159385">
              <a:lnSpc>
                <a:spcPts val="1450"/>
              </a:lnSpc>
            </a:pPr>
            <a:r>
              <a:rPr dirty="0" sz="1100">
                <a:latin typeface="Times New Roman"/>
                <a:cs typeface="Times New Roman"/>
              </a:rPr>
              <a:t>METER: 1000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attempts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 account 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locked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failed</a:t>
            </a:r>
            <a:r>
              <a:rPr dirty="0" sz="1100" spc="-10">
                <a:latin typeface="Times New Roman"/>
                <a:cs typeface="Times New Roman"/>
              </a:rPr>
              <a:t> log-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attempts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times.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locking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half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log-</a:t>
            </a:r>
            <a:r>
              <a:rPr dirty="0" sz="1100">
                <a:latin typeface="Times New Roman"/>
                <a:cs typeface="Times New Roman"/>
              </a:rPr>
              <a:t>in function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disabled.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UserCreateAccountSecurity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system.</a:t>
            </a:r>
            <a:endParaRPr sz="1100">
              <a:latin typeface="Times New Roman"/>
              <a:cs typeface="Times New Roman"/>
            </a:endParaRPr>
          </a:p>
          <a:p>
            <a:pPr marL="12700" marR="10985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occupied,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asked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name.</a:t>
            </a:r>
            <a:endParaRPr sz="1100">
              <a:latin typeface="Times New Roman"/>
              <a:cs typeface="Times New Roman"/>
            </a:endParaRPr>
          </a:p>
          <a:p>
            <a:pPr marL="12700" marR="1805939">
              <a:lnSpc>
                <a:spcPts val="1460"/>
              </a:lnSpc>
              <a:spcBef>
                <a:spcPts val="70"/>
              </a:spcBef>
            </a:pP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 </a:t>
            </a: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TAG: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RestaurantOwnerCreateAccountSecurity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Times New Roman"/>
                <a:cs typeface="Times New Roman"/>
              </a:rPr>
              <a:t>GIST: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security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 owners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system.</a:t>
            </a:r>
            <a:endParaRPr sz="1100">
              <a:latin typeface="Times New Roman"/>
              <a:cs typeface="Times New Roman"/>
            </a:endParaRPr>
          </a:p>
          <a:p>
            <a:pPr marL="12700" marR="25019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SCALE: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account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occupied,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restaurant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name.</a:t>
            </a:r>
            <a:endParaRPr sz="1100">
              <a:latin typeface="Times New Roman"/>
              <a:cs typeface="Times New Roman"/>
            </a:endParaRPr>
          </a:p>
          <a:p>
            <a:pPr marL="12700" marR="180467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METER: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Measurements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testing. </a:t>
            </a:r>
            <a:r>
              <a:rPr dirty="0" sz="1100">
                <a:latin typeface="Times New Roman"/>
                <a:cs typeface="Times New Roman"/>
              </a:rPr>
              <a:t>MUST: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4080"/>
            <a:ext cx="5894705" cy="40532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345440" indent="-33274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34544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Maintainability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QR19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extendibility</a:t>
            </a:r>
            <a:endParaRPr sz="1100">
              <a:latin typeface="Times New Roman"/>
              <a:cs typeface="Times New Roman"/>
            </a:endParaRPr>
          </a:p>
          <a:p>
            <a:pPr marL="12700" marR="320040">
              <a:lnSpc>
                <a:spcPts val="1460"/>
              </a:lnSpc>
              <a:spcBef>
                <a:spcPts val="65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extend.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written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favors </a:t>
            </a:r>
            <a:r>
              <a:rPr dirty="0" sz="1100">
                <a:latin typeface="Times New Roman"/>
                <a:cs typeface="Times New Roman"/>
              </a:rPr>
              <a:t>implementation 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10">
                <a:latin typeface="Times New Roman"/>
                <a:cs typeface="Times New Roman"/>
              </a:rPr>
              <a:t>functions.</a:t>
            </a:r>
            <a:endParaRPr sz="1100">
              <a:latin typeface="Times New Roman"/>
              <a:cs typeface="Times New Roman"/>
            </a:endParaRPr>
          </a:p>
          <a:p>
            <a:pPr marL="12700" marR="1480185">
              <a:lnSpc>
                <a:spcPts val="1450"/>
              </a:lnSpc>
            </a:pP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implemented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easily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QR21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testability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environments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applications</a:t>
            </a:r>
            <a:r>
              <a:rPr dirty="0" sz="1100" spc="-10">
                <a:latin typeface="Times New Roman"/>
                <a:cs typeface="Times New Roman"/>
              </a:rPr>
              <a:t> different functions.</a:t>
            </a:r>
            <a:endParaRPr sz="1100">
              <a:latin typeface="Times New Roman"/>
              <a:cs typeface="Times New Roman"/>
            </a:endParaRPr>
          </a:p>
          <a:p>
            <a:pPr marL="12700" marR="3805554">
              <a:lnSpc>
                <a:spcPts val="1460"/>
              </a:lnSpc>
              <a:spcBef>
                <a:spcPts val="70"/>
              </a:spcBef>
            </a:pPr>
            <a:r>
              <a:rPr dirty="0" sz="1100">
                <a:latin typeface="Times New Roman"/>
                <a:cs typeface="Times New Roman"/>
              </a:rPr>
              <a:t>RAT: 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 </a:t>
            </a: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  <a:p>
            <a:pPr lvl="2" marL="345440" indent="-332740">
              <a:lnSpc>
                <a:spcPct val="100000"/>
              </a:lnSpc>
              <a:spcBef>
                <a:spcPts val="1105"/>
              </a:spcBef>
              <a:buAutoNum type="arabicPeriod" startAt="5"/>
              <a:tabLst>
                <a:tab pos="345440" algn="l"/>
              </a:tabLst>
            </a:pPr>
            <a:r>
              <a:rPr dirty="0" sz="1100" spc="-10" b="1" i="1">
                <a:solidFill>
                  <a:srgbClr val="4F81BC"/>
                </a:solidFill>
                <a:latin typeface="Cambria"/>
                <a:cs typeface="Cambria"/>
              </a:rPr>
              <a:t>Portability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100" b="1">
                <a:latin typeface="Times New Roman"/>
                <a:cs typeface="Times New Roman"/>
              </a:rPr>
              <a:t>ID: </a:t>
            </a:r>
            <a:r>
              <a:rPr dirty="0" sz="1100" spc="-20" b="1">
                <a:latin typeface="Times New Roman"/>
                <a:cs typeface="Times New Roman"/>
              </a:rPr>
              <a:t>QR20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Times New Roman"/>
                <a:cs typeface="Times New Roman"/>
              </a:rPr>
              <a:t>TITLE: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portability</a:t>
            </a:r>
            <a:endParaRPr sz="1100">
              <a:latin typeface="Times New Roman"/>
              <a:cs typeface="Times New Roman"/>
            </a:endParaRPr>
          </a:p>
          <a:p>
            <a:pPr marL="12700" marR="2192655">
              <a:lnSpc>
                <a:spcPct val="110000"/>
              </a:lnSpc>
              <a:spcBef>
                <a:spcPts val="10"/>
              </a:spcBef>
            </a:pPr>
            <a:r>
              <a:rPr dirty="0" sz="1100">
                <a:latin typeface="Times New Roman"/>
                <a:cs typeface="Times New Roman"/>
              </a:rPr>
              <a:t>DESC: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iOS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Android. </a:t>
            </a:r>
            <a:r>
              <a:rPr dirty="0" sz="1100">
                <a:latin typeface="Times New Roman"/>
                <a:cs typeface="Times New Roman"/>
              </a:rPr>
              <a:t>RAT: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adaptable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platform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run</a:t>
            </a:r>
            <a:r>
              <a:rPr dirty="0" sz="1100" spc="-25">
                <a:latin typeface="Times New Roman"/>
                <a:cs typeface="Times New Roman"/>
              </a:rPr>
              <a:t> 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DEP: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none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1285"/>
            <a:ext cx="5959475" cy="7635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lr>
                <a:srgbClr val="365F91"/>
              </a:buClr>
              <a:buFont typeface="Cambria"/>
              <a:buAutoNum type="arabicPeriod" startAt="4"/>
              <a:tabLst>
                <a:tab pos="198120" algn="l"/>
              </a:tabLst>
            </a:pP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Prioritization</a:t>
            </a:r>
            <a:r>
              <a:rPr dirty="0" sz="1400" spc="-1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and Release </a:t>
            </a:r>
            <a:r>
              <a:rPr dirty="0" sz="1400" spc="-20" b="1">
                <a:solidFill>
                  <a:srgbClr val="365F91"/>
                </a:solidFill>
                <a:latin typeface="Cambria"/>
                <a:cs typeface="Cambria"/>
              </a:rPr>
              <a:t>Plan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365F91"/>
              </a:buClr>
              <a:buFont typeface="Cambria"/>
              <a:buAutoNum type="arabicPeriod" startAt="4"/>
            </a:pPr>
            <a:endParaRPr sz="1400">
              <a:latin typeface="Cambria"/>
              <a:cs typeface="Cambria"/>
            </a:endParaRPr>
          </a:p>
          <a:p>
            <a:pPr marL="12700" marR="34925">
              <a:lnSpc>
                <a:spcPct val="1103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requirements </a:t>
            </a:r>
            <a:r>
              <a:rPr dirty="0" sz="1100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discusses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suggestion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requirements </a:t>
            </a:r>
            <a:r>
              <a:rPr dirty="0" sz="1100">
                <a:latin typeface="Times New Roman"/>
                <a:cs typeface="Times New Roman"/>
              </a:rPr>
              <a:t>could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look</a:t>
            </a:r>
            <a:r>
              <a:rPr dirty="0" sz="1100" spc="-10">
                <a:latin typeface="Times New Roman"/>
                <a:cs typeface="Times New Roman"/>
              </a:rPr>
              <a:t> like.</a:t>
            </a: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spcBef>
                <a:spcPts val="1165"/>
              </a:spcBef>
              <a:buClr>
                <a:srgbClr val="4F81BC"/>
              </a:buClr>
              <a:buFont typeface="Cambria"/>
              <a:buAutoNum type="arabicPeriod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Choice</a:t>
            </a:r>
            <a:r>
              <a:rPr dirty="0" sz="1300" spc="-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dirty="0" sz="1300" spc="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prioritization</a:t>
            </a:r>
            <a:r>
              <a:rPr dirty="0" sz="1300" spc="-1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4F81BC"/>
                </a:solidFill>
                <a:latin typeface="Cambria"/>
                <a:cs typeface="Cambria"/>
              </a:rPr>
              <a:t>method</a:t>
            </a:r>
            <a:endParaRPr sz="1300">
              <a:latin typeface="Cambria"/>
              <a:cs typeface="Cambria"/>
            </a:endParaRPr>
          </a:p>
          <a:p>
            <a:pPr marL="12700" marR="38735">
              <a:lnSpc>
                <a:spcPct val="110300"/>
              </a:lnSpc>
              <a:spcBef>
                <a:spcPts val="15"/>
              </a:spcBef>
            </a:pP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most important ones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picked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simple “1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10”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 one being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important”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important”. 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on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elicitation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meetings,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stakeholders,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summed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chosen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cost value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approach.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red-</a:t>
            </a:r>
            <a:r>
              <a:rPr dirty="0" sz="1100">
                <a:latin typeface="Times New Roman"/>
                <a:cs typeface="Times New Roman"/>
              </a:rPr>
              <a:t>marked, can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seen in Appendix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shown, 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turned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10">
                <a:latin typeface="Times New Roman"/>
                <a:cs typeface="Times New Roman"/>
              </a:rPr>
              <a:t> requirements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cost </a:t>
            </a:r>
            <a:r>
              <a:rPr dirty="0" sz="1100" spc="-10">
                <a:latin typeface="Times New Roman"/>
                <a:cs typeface="Times New Roman"/>
              </a:rPr>
              <a:t>value </a:t>
            </a:r>
            <a:r>
              <a:rPr dirty="0" sz="1100">
                <a:latin typeface="Times New Roman"/>
                <a:cs typeface="Times New Roman"/>
              </a:rPr>
              <a:t>approach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II.</a:t>
            </a:r>
            <a:endParaRPr sz="1100">
              <a:latin typeface="Times New Roman"/>
              <a:cs typeface="Times New Roman"/>
            </a:endParaRPr>
          </a:p>
          <a:p>
            <a:pPr algn="just" marL="12700" marR="120014">
              <a:lnSpc>
                <a:spcPct val="110500"/>
              </a:lnSpc>
              <a:spcBef>
                <a:spcPts val="99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according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“Five-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Scheme”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shown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III.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chosen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stakeholders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enough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 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20">
                <a:latin typeface="Times New Roman"/>
                <a:cs typeface="Times New Roman"/>
              </a:rPr>
              <a:t> [3].</a:t>
            </a:r>
            <a:endParaRPr sz="1100">
              <a:latin typeface="Times New Roman"/>
              <a:cs typeface="Times New Roman"/>
            </a:endParaRPr>
          </a:p>
          <a:p>
            <a:pPr algn="just" marL="12700" marR="53975">
              <a:lnSpc>
                <a:spcPct val="110000"/>
              </a:lnSpc>
            </a:pPr>
            <a:r>
              <a:rPr dirty="0" sz="1100">
                <a:latin typeface="Times New Roman"/>
                <a:cs typeface="Times New Roman"/>
              </a:rPr>
              <a:t>However,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stakeholder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10">
                <a:latin typeface="Times New Roman"/>
                <a:cs typeface="Times New Roman"/>
              </a:rPr>
              <a:t>stakeholders.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300"/>
              </a:lnSpc>
              <a:spcBef>
                <a:spcPts val="1005"/>
              </a:spcBef>
            </a:pPr>
            <a:r>
              <a:rPr dirty="0" sz="1100">
                <a:latin typeface="Times New Roman"/>
                <a:cs typeface="Times New Roman"/>
              </a:rPr>
              <a:t>Other methods for prioritization, such 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hundred-</a:t>
            </a:r>
            <a:r>
              <a:rPr dirty="0" sz="1100">
                <a:latin typeface="Times New Roman"/>
                <a:cs typeface="Times New Roman"/>
              </a:rPr>
              <a:t>dollar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yes-</a:t>
            </a:r>
            <a:r>
              <a:rPr dirty="0" sz="1100">
                <a:latin typeface="Times New Roman"/>
                <a:cs typeface="Times New Roman"/>
              </a:rPr>
              <a:t>no vote, were </a:t>
            </a:r>
            <a:r>
              <a:rPr dirty="0" sz="1100" spc="-20">
                <a:latin typeface="Times New Roman"/>
                <a:cs typeface="Times New Roman"/>
              </a:rPr>
              <a:t>also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considered.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hundred-</a:t>
            </a:r>
            <a:r>
              <a:rPr dirty="0" sz="1100">
                <a:latin typeface="Times New Roman"/>
                <a:cs typeface="Times New Roman"/>
              </a:rPr>
              <a:t>dollar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similar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five-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scheme,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wide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However,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easily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misused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money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very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 [3]. Others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might 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agree </a:t>
            </a:r>
            <a:r>
              <a:rPr dirty="0" sz="1100">
                <a:latin typeface="Times New Roman"/>
                <a:cs typeface="Times New Roman"/>
              </a:rPr>
              <a:t>that 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still get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votes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 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[3].</a:t>
            </a:r>
            <a:endParaRPr sz="1100">
              <a:latin typeface="Times New Roman"/>
              <a:cs typeface="Times New Roman"/>
            </a:endParaRPr>
          </a:p>
          <a:p>
            <a:pPr algn="just" marL="12700" marR="496570">
              <a:lnSpc>
                <a:spcPct val="110500"/>
              </a:lnSpc>
              <a:spcBef>
                <a:spcPts val="99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yes-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 might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fairly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simple 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too narrow.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instance,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very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 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those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 important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[3].</a:t>
            </a:r>
            <a:endParaRPr sz="1100">
              <a:latin typeface="Times New Roman"/>
              <a:cs typeface="Times New Roman"/>
            </a:endParaRPr>
          </a:p>
          <a:p>
            <a:pPr algn="just" marL="12700" marR="83820">
              <a:lnSpc>
                <a:spcPct val="110900"/>
              </a:lnSpc>
              <a:spcBef>
                <a:spcPts val="98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conclusion,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weighing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disadvantages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advantages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against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choose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five-</a:t>
            </a:r>
            <a:r>
              <a:rPr dirty="0" sz="1100">
                <a:latin typeface="Times New Roman"/>
                <a:cs typeface="Times New Roman"/>
              </a:rPr>
              <a:t>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scheme.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280035" indent="-267335">
              <a:lnSpc>
                <a:spcPct val="100000"/>
              </a:lnSpc>
              <a:buAutoNum type="arabicPeriod" startAt="2"/>
              <a:tabLst>
                <a:tab pos="280035" algn="l"/>
              </a:tabLst>
            </a:pPr>
            <a:r>
              <a:rPr dirty="0" sz="1300" b="1">
                <a:solidFill>
                  <a:srgbClr val="4F81BC"/>
                </a:solidFill>
                <a:latin typeface="Cambria"/>
                <a:cs typeface="Cambria"/>
              </a:rPr>
              <a:t>Release</a:t>
            </a:r>
            <a:r>
              <a:rPr dirty="0" sz="1300" spc="-35" b="1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dirty="0" sz="1300" spc="-20" b="1">
                <a:solidFill>
                  <a:srgbClr val="4F81BC"/>
                </a:solidFill>
                <a:latin typeface="Cambria"/>
                <a:cs typeface="Cambria"/>
              </a:rPr>
              <a:t>Plan</a:t>
            </a:r>
            <a:endParaRPr sz="1300">
              <a:latin typeface="Cambria"/>
              <a:cs typeface="Cambria"/>
            </a:endParaRPr>
          </a:p>
          <a:p>
            <a:pPr algn="just" marL="12700" marR="53975">
              <a:lnSpc>
                <a:spcPct val="110000"/>
              </a:lnSpc>
              <a:spcBef>
                <a:spcPts val="3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dependencies.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assembled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fully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  <a:p>
            <a:pPr algn="just" marL="12700" marR="17780">
              <a:lnSpc>
                <a:spcPct val="110900"/>
              </a:lnSpc>
              <a:spcBef>
                <a:spcPts val="98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together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most highly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prioritized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dependencies.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71576"/>
            <a:ext cx="5937885" cy="1388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However,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vital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application.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additional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can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contribute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software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attractive.</a:t>
            </a:r>
            <a:endParaRPr sz="1100">
              <a:latin typeface="Times New Roman"/>
              <a:cs typeface="Times New Roman"/>
            </a:endParaRPr>
          </a:p>
          <a:p>
            <a:pPr marL="12700" marR="146050">
              <a:lnSpc>
                <a:spcPct val="110000"/>
              </a:lnSpc>
              <a:spcBef>
                <a:spcPts val="1005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afforded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discard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 gets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delayed </a:t>
            </a:r>
            <a:r>
              <a:rPr dirty="0" sz="1100" spc="-25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overruns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budget.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details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Appendix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IV.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29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91285"/>
            <a:ext cx="37776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Appendix</a:t>
            </a:r>
            <a:r>
              <a:rPr dirty="0" sz="1400" spc="-3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I:</a:t>
            </a:r>
            <a:r>
              <a:rPr dirty="0" sz="1400" spc="-2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Selection</a:t>
            </a:r>
            <a:r>
              <a:rPr dirty="0" sz="1400" spc="-1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for</a:t>
            </a:r>
            <a:r>
              <a:rPr dirty="0" sz="1400" spc="-3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Cost-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Value</a:t>
            </a:r>
            <a:r>
              <a:rPr dirty="0" sz="1400" spc="-2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Approach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2512" y="1525777"/>
          <a:ext cx="4869815" cy="7527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/>
                <a:gridCol w="533400"/>
                <a:gridCol w="456565"/>
                <a:gridCol w="596900"/>
                <a:gridCol w="430530"/>
                <a:gridCol w="494665"/>
                <a:gridCol w="380364"/>
                <a:gridCol w="432435"/>
                <a:gridCol w="367029"/>
              </a:tblGrid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Magnus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Elmira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Faegheh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Niclas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Farhan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Sean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Sarah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Total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2D1E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5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26666" y="1333245"/>
            <a:ext cx="2564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Table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2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Select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of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ten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most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important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requirements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30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2512" y="914400"/>
          <a:ext cx="4869815" cy="8182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/>
                <a:gridCol w="533400"/>
                <a:gridCol w="456565"/>
                <a:gridCol w="596900"/>
                <a:gridCol w="430530"/>
                <a:gridCol w="494665"/>
                <a:gridCol w="380364"/>
                <a:gridCol w="432435"/>
                <a:gridCol w="367029"/>
              </a:tblGrid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31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2512" y="914400"/>
          <a:ext cx="4869815" cy="294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/>
                <a:gridCol w="533400"/>
                <a:gridCol w="456565"/>
                <a:gridCol w="596900"/>
                <a:gridCol w="430530"/>
                <a:gridCol w="494665"/>
                <a:gridCol w="380364"/>
                <a:gridCol w="432435"/>
                <a:gridCol w="367029"/>
              </a:tblGrid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54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999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31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31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32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65986"/>
            <a:ext cx="5598795" cy="782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Appendix</a:t>
            </a:r>
            <a:r>
              <a:rPr dirty="0" sz="1400" spc="-2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II:</a:t>
            </a:r>
            <a:r>
              <a:rPr dirty="0" sz="1400" spc="-1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Prioritization</a:t>
            </a:r>
            <a:r>
              <a:rPr dirty="0" sz="1400" spc="-2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Result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of</a:t>
            </a:r>
            <a:r>
              <a:rPr dirty="0" sz="1400" spc="-3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10</a:t>
            </a:r>
            <a:r>
              <a:rPr dirty="0" sz="1400" spc="-2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selected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Requirements</a:t>
            </a:r>
            <a:r>
              <a:rPr dirty="0" sz="1400" spc="-1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Using Cost-</a:t>
            </a: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Value</a:t>
            </a:r>
            <a:r>
              <a:rPr dirty="0" sz="1400" spc="2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Approach</a:t>
            </a:r>
            <a:endParaRPr sz="1400">
              <a:latin typeface="Cambria"/>
              <a:cs typeface="Cambria"/>
            </a:endParaRPr>
          </a:p>
          <a:p>
            <a:pPr marL="1447800">
              <a:lnSpc>
                <a:spcPct val="100000"/>
              </a:lnSpc>
              <a:spcBef>
                <a:spcPts val="111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Table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3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10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most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important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requirements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076" y="1705610"/>
          <a:ext cx="5306060" cy="333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075"/>
                <a:gridCol w="2858135"/>
                <a:gridCol w="1254760"/>
              </a:tblGrid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Title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dirty="0" sz="11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Type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Search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Function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map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view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Function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view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Function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owner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information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Function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Administrator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verifies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owner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Function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Availability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QR9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Reliability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Security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Internet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Connection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3076" y="5542153"/>
          <a:ext cx="4862195" cy="3182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234"/>
                <a:gridCol w="390525"/>
                <a:gridCol w="390525"/>
                <a:gridCol w="389254"/>
                <a:gridCol w="460375"/>
                <a:gridCol w="460375"/>
                <a:gridCol w="413385"/>
                <a:gridCol w="412114"/>
                <a:gridCol w="413385"/>
                <a:gridCol w="483235"/>
                <a:gridCol w="483235"/>
              </a:tblGrid>
              <a:tr h="45529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Value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838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838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838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R="609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57042" y="5349621"/>
            <a:ext cx="7893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Table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4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Value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33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4400"/>
          <a:ext cx="4862195" cy="1817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234"/>
                <a:gridCol w="390525"/>
                <a:gridCol w="390525"/>
                <a:gridCol w="389254"/>
                <a:gridCol w="460375"/>
                <a:gridCol w="460375"/>
                <a:gridCol w="413385"/>
                <a:gridCol w="412114"/>
                <a:gridCol w="413385"/>
                <a:gridCol w="483235"/>
                <a:gridCol w="483235"/>
              </a:tblGrid>
              <a:tr h="454025">
                <a:tc>
                  <a:txBody>
                    <a:bodyPr/>
                    <a:lstStyle/>
                    <a:p>
                      <a:pPr algn="ctr" marR="609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R="609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076" y="3550030"/>
          <a:ext cx="4892675" cy="4999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984"/>
                <a:gridCol w="389890"/>
                <a:gridCol w="388619"/>
                <a:gridCol w="390525"/>
                <a:gridCol w="460375"/>
                <a:gridCol w="460375"/>
                <a:gridCol w="411480"/>
                <a:gridCol w="413385"/>
                <a:gridCol w="413385"/>
                <a:gridCol w="483235"/>
                <a:gridCol w="481964"/>
              </a:tblGrid>
              <a:tr h="4540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COST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R="1155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1155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1155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FR8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FR27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927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R="927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927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QR9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QR22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1/5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8419">
                    <a:lnL w="9525">
                      <a:solidFill>
                        <a:srgbClr val="AAAAAA"/>
                      </a:solidFill>
                      <a:prstDash val="sysDot"/>
                    </a:lnL>
                    <a:lnR w="9525">
                      <a:solidFill>
                        <a:srgbClr val="AAAAAA"/>
                      </a:solidFill>
                      <a:prstDash val="sysDot"/>
                    </a:lnR>
                    <a:lnT w="9525">
                      <a:solidFill>
                        <a:srgbClr val="AAAAAA"/>
                      </a:solidFill>
                      <a:prstDash val="sysDot"/>
                    </a:lnT>
                    <a:lnB w="9525">
                      <a:solidFill>
                        <a:srgbClr val="AAAAAA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784475" y="3308731"/>
            <a:ext cx="727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Table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5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Cost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943600" cy="3670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660390"/>
            <a:ext cx="4583938" cy="27552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61842" y="4780915"/>
            <a:ext cx="16490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2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9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Result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of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AHP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4F81BC"/>
                </a:solidFill>
                <a:latin typeface="Times New Roman"/>
                <a:cs typeface="Times New Roman"/>
              </a:rPr>
              <a:t>method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05"/>
              </a:lnSpc>
            </a:pPr>
            <a:r>
              <a:rPr dirty="0" spc="-25"/>
              <a:t>34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88566" y="8682938"/>
            <a:ext cx="2621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Figure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10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–</a:t>
            </a:r>
            <a:r>
              <a:rPr dirty="0" sz="900" spc="-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The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value</a:t>
            </a:r>
            <a:r>
              <a:rPr dirty="0" sz="900" spc="-1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distribution</a:t>
            </a:r>
            <a:r>
              <a:rPr dirty="0" sz="900" spc="-2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and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4F81BC"/>
                </a:solidFill>
                <a:latin typeface="Times New Roman"/>
                <a:cs typeface="Times New Roman"/>
              </a:rPr>
              <a:t>estimated</a:t>
            </a:r>
            <a:r>
              <a:rPr dirty="0" sz="900" spc="-25" b="1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dirty="0" sz="900" spc="-20" b="1">
                <a:solidFill>
                  <a:srgbClr val="4F81BC"/>
                </a:solidFill>
                <a:latin typeface="Times New Roman"/>
                <a:cs typeface="Times New Roman"/>
              </a:rPr>
              <a:t>cost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2026-08-21T04:26:55Z</dcterms:created>
  <dcterms:modified xsi:type="dcterms:W3CDTF">2026-08-21T04:26:55Z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2026-08-21T00:00:00Z</vt:filetime>
  </property>
  <property fmtid="{D5CDD505-2E9C-101B-9397-08002B2CF9AE}" pid="4" name="LastSaved">
    <vt:filetime>2026-08-21T00:00:00Z</vt:filetime>
  </property>
  <property fmtid="{D5CDD505-2E9C-101B-9397-08002B2CF9AE}" pid="5" name="Producer">
    <vt:lpwstr>iLovePDF</vt:lpwstr>
  </property>
</Properties>
</file>